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Mi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атак, %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Утечки данных</c:v>
                  </c:pt>
                  <c:pt idx="1">
                    <c:v>Программы-вымогатели</c:v>
                  </c:pt>
                  <c:pt idx="2">
                    <c:v>Подмена SIM-карт</c:v>
                  </c:pt>
                  <c:pt idx="3">
                    <c:v>Вредоносное ПО</c:v>
                  </c:pt>
                  <c:pt idx="4">
                    <c:v>Ботнеты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</c:v>
                </c:pt>
                <c:pt idx="1">
                  <c:v>36</c:v>
                </c:pt>
                <c:pt idx="2">
                  <c:v>10</c:v>
                </c:pt>
                <c:pt idx="3">
                  <c:v>9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x5i7ycum6gnq/mnt/agents/output/cybersecurity/images/cov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1000"/>
                </a:srgbClr>
              </a:gs>
              <a:gs pos="55000">
                <a:srgbClr val="0F172A">
                  <a:alpha val="75000"/>
                </a:srgbClr>
              </a:gs>
              <a:gs pos="100000">
                <a:srgbClr val="0F172A">
                  <a:alpha val="25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16000" y="2921000"/>
            <a:ext cx="1016000" cy="635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3238500"/>
            <a:ext cx="889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b="1" spc="100" kern="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ОСНОВЫ</a:t>
            </a:r>
            <a:endParaRPr lang="en-US" sz="5600" dirty="0"/>
          </a:p>
          <a:p>
            <a:pPr algn="l">
              <a:lnSpc>
                <a:spcPct val="120000"/>
              </a:lnSpc>
            </a:pPr>
            <a:r>
              <a:rPr lang="en-US" sz="5600" b="1" spc="100" kern="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КИБЕРБЕЗОПАСНОСТИ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1016000" y="5461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Защита персональных данных</a:t>
            </a:r>
            <a:endParaRPr lang="en-US" sz="2200" dirty="0"/>
          </a:p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 финансов в цифровом мире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16000" y="6731000"/>
            <a:ext cx="2794000" cy="457200"/>
          </a:xfrm>
          <a:prstGeom prst="roundRect">
            <a:avLst>
              <a:gd name="adj" fmla="val 50000"/>
            </a:avLst>
          </a:prstGeom>
          <a:solidFill>
            <a:srgbClr val="E8604C">
              <a:alpha val="1451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6000" y="67310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860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МОДУЛЬ 2  | 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84000" y="3556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cubicBezTo>
                  <a:pt x="775692" y="0"/>
                  <a:pt x="789384" y="2977"/>
                  <a:pt x="801886" y="8632"/>
                </a:cubicBezTo>
                <a:lnTo>
                  <a:pt x="1362670" y="246459"/>
                </a:lnTo>
                <a:cubicBezTo>
                  <a:pt x="1428155" y="274141"/>
                  <a:pt x="1476970" y="338733"/>
                  <a:pt x="1476673" y="416719"/>
                </a:cubicBezTo>
                <a:cubicBezTo>
                  <a:pt x="1475184" y="711994"/>
                  <a:pt x="1353741" y="1252240"/>
                  <a:pt x="840879" y="1497806"/>
                </a:cubicBezTo>
                <a:cubicBezTo>
                  <a:pt x="791170" y="1521619"/>
                  <a:pt x="733425" y="1521619"/>
                  <a:pt x="683716" y="1497806"/>
                </a:cubicBezTo>
                <a:cubicBezTo>
                  <a:pt x="170557" y="1252240"/>
                  <a:pt x="49411" y="711994"/>
                  <a:pt x="47923" y="416719"/>
                </a:cubicBezTo>
                <a:cubicBezTo>
                  <a:pt x="47625" y="338733"/>
                  <a:pt x="96441" y="274141"/>
                  <a:pt x="161925" y="246459"/>
                </a:cubicBezTo>
                <a:lnTo>
                  <a:pt x="722412" y="8632"/>
                </a:lnTo>
                <a:cubicBezTo>
                  <a:pt x="734913" y="2977"/>
                  <a:pt x="748308" y="0"/>
                  <a:pt x="762000" y="0"/>
                </a:cubicBezTo>
                <a:close/>
                <a:moveTo>
                  <a:pt x="762000" y="198834"/>
                </a:moveTo>
                <a:lnTo>
                  <a:pt x="762000" y="1324273"/>
                </a:lnTo>
                <a:cubicBezTo>
                  <a:pt x="1172766" y="1125438"/>
                  <a:pt x="1283196" y="684907"/>
                  <a:pt x="1285875" y="421184"/>
                </a:cubicBezTo>
                <a:lnTo>
                  <a:pt x="762000" y="199132"/>
                </a:lnTo>
                <a:lnTo>
                  <a:pt x="762000" y="199132"/>
                </a:lnTo>
                <a:close/>
              </a:path>
            </a:pathLst>
          </a:custGeom>
          <a:solidFill>
            <a:srgbClr val="FFFFFF">
              <a:alpha val="8235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Содержание модуля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508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778000"/>
            <a:ext cx="4572000" cy="635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E860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143000" y="3429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cubicBezTo>
                  <a:pt x="295444" y="0"/>
                  <a:pt x="310178" y="8840"/>
                  <a:pt x="317818" y="22920"/>
                </a:cubicBezTo>
                <a:lnTo>
                  <a:pt x="553561" y="459482"/>
                </a:lnTo>
                <a:cubicBezTo>
                  <a:pt x="560874" y="473015"/>
                  <a:pt x="560546" y="489387"/>
                  <a:pt x="552688" y="502593"/>
                </a:cubicBezTo>
                <a:cubicBezTo>
                  <a:pt x="544830" y="515799"/>
                  <a:pt x="530533" y="523875"/>
                  <a:pt x="515144" y="523875"/>
                </a:cubicBezTo>
                <a:lnTo>
                  <a:pt x="43656" y="523875"/>
                </a:lnTo>
                <a:cubicBezTo>
                  <a:pt x="28267" y="523875"/>
                  <a:pt x="14079" y="515799"/>
                  <a:pt x="6112" y="502593"/>
                </a:cubicBezTo>
                <a:cubicBezTo>
                  <a:pt x="-1855" y="489387"/>
                  <a:pt x="-2074" y="473015"/>
                  <a:pt x="5239" y="459482"/>
                </a:cubicBezTo>
                <a:lnTo>
                  <a:pt x="240983" y="22920"/>
                </a:lnTo>
                <a:cubicBezTo>
                  <a:pt x="248622" y="8840"/>
                  <a:pt x="263356" y="0"/>
                  <a:pt x="279400" y="0"/>
                </a:cubicBezTo>
                <a:close/>
                <a:moveTo>
                  <a:pt x="279400" y="183356"/>
                </a:moveTo>
                <a:cubicBezTo>
                  <a:pt x="264884" y="183356"/>
                  <a:pt x="253206" y="195034"/>
                  <a:pt x="253206" y="209550"/>
                </a:cubicBezTo>
                <a:lnTo>
                  <a:pt x="253206" y="331788"/>
                </a:lnTo>
                <a:cubicBezTo>
                  <a:pt x="253206" y="346303"/>
                  <a:pt x="264884" y="357981"/>
                  <a:pt x="279400" y="357981"/>
                </a:cubicBezTo>
                <a:cubicBezTo>
                  <a:pt x="293916" y="357981"/>
                  <a:pt x="305594" y="346303"/>
                  <a:pt x="305594" y="331788"/>
                </a:cubicBezTo>
                <a:lnTo>
                  <a:pt x="305594" y="209550"/>
                </a:lnTo>
                <a:cubicBezTo>
                  <a:pt x="305594" y="195034"/>
                  <a:pt x="293916" y="183356"/>
                  <a:pt x="279400" y="183356"/>
                </a:cubicBezTo>
                <a:close/>
                <a:moveTo>
                  <a:pt x="308541" y="419100"/>
                </a:moveTo>
                <a:cubicBezTo>
                  <a:pt x="309203" y="408283"/>
                  <a:pt x="303809" y="397992"/>
                  <a:pt x="294537" y="392384"/>
                </a:cubicBezTo>
                <a:cubicBezTo>
                  <a:pt x="285264" y="386775"/>
                  <a:pt x="273645" y="386775"/>
                  <a:pt x="264372" y="392384"/>
                </a:cubicBezTo>
                <a:cubicBezTo>
                  <a:pt x="255100" y="397992"/>
                  <a:pt x="249706" y="408283"/>
                  <a:pt x="250369" y="419100"/>
                </a:cubicBezTo>
                <a:cubicBezTo>
                  <a:pt x="249706" y="429917"/>
                  <a:pt x="255100" y="440208"/>
                  <a:pt x="264372" y="445816"/>
                </a:cubicBezTo>
                <a:cubicBezTo>
                  <a:pt x="273645" y="451425"/>
                  <a:pt x="285264" y="451425"/>
                  <a:pt x="294537" y="445816"/>
                </a:cubicBezTo>
                <a:cubicBezTo>
                  <a:pt x="303809" y="440208"/>
                  <a:pt x="309203" y="429917"/>
                  <a:pt x="308541" y="419100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19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Угрозы цифрового мира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4826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Масштаб киберпреступности, статистика убытков и основные виды кибератак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698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Слайды 3 — 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1778000"/>
            <a:ext cx="4826000" cy="60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50800" dir="5400000">
              <a:srgbClr val="000000">
                <a:alpha val="627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42000" y="1778000"/>
            <a:ext cx="4572000" cy="6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14" name="Shape 12"/>
          <p:cNvSpPr/>
          <p:nvPr/>
        </p:nvSpPr>
        <p:spPr>
          <a:xfrm>
            <a:off x="6223000" y="3429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17311" y="270669"/>
                </a:moveTo>
                <a:cubicBezTo>
                  <a:pt x="281563" y="270669"/>
                  <a:pt x="333728" y="211984"/>
                  <a:pt x="333728" y="139700"/>
                </a:cubicBezTo>
                <a:cubicBezTo>
                  <a:pt x="333728" y="67416"/>
                  <a:pt x="281563" y="8731"/>
                  <a:pt x="217311" y="8731"/>
                </a:cubicBezTo>
                <a:cubicBezTo>
                  <a:pt x="153059" y="8731"/>
                  <a:pt x="100894" y="67416"/>
                  <a:pt x="100894" y="139700"/>
                </a:cubicBezTo>
                <a:cubicBezTo>
                  <a:pt x="100894" y="211984"/>
                  <a:pt x="153059" y="270669"/>
                  <a:pt x="217311" y="270669"/>
                </a:cubicBezTo>
                <a:close/>
                <a:moveTo>
                  <a:pt x="188498" y="331788"/>
                </a:moveTo>
                <a:cubicBezTo>
                  <a:pt x="92939" y="331788"/>
                  <a:pt x="15522" y="418882"/>
                  <a:pt x="15522" y="526385"/>
                </a:cubicBezTo>
                <a:cubicBezTo>
                  <a:pt x="15522" y="544284"/>
                  <a:pt x="28425" y="558800"/>
                  <a:pt x="44335" y="558800"/>
                </a:cubicBezTo>
                <a:lnTo>
                  <a:pt x="288325" y="558800"/>
                </a:lnTo>
                <a:cubicBezTo>
                  <a:pt x="253206" y="512306"/>
                  <a:pt x="232833" y="452388"/>
                  <a:pt x="232833" y="388977"/>
                </a:cubicBezTo>
                <a:lnTo>
                  <a:pt x="232833" y="355034"/>
                </a:lnTo>
                <a:cubicBezTo>
                  <a:pt x="232833" y="347067"/>
                  <a:pt x="233803" y="339209"/>
                  <a:pt x="235647" y="331787"/>
                </a:cubicBezTo>
                <a:lnTo>
                  <a:pt x="188498" y="331787"/>
                </a:lnTo>
                <a:close/>
                <a:moveTo>
                  <a:pt x="432003" y="533152"/>
                </a:moveTo>
                <a:lnTo>
                  <a:pt x="419100" y="540028"/>
                </a:lnTo>
                <a:lnTo>
                  <a:pt x="419100" y="334734"/>
                </a:lnTo>
                <a:lnTo>
                  <a:pt x="512233" y="369659"/>
                </a:lnTo>
                <a:lnTo>
                  <a:pt x="512233" y="391051"/>
                </a:lnTo>
                <a:cubicBezTo>
                  <a:pt x="512233" y="451951"/>
                  <a:pt x="480995" y="507286"/>
                  <a:pt x="432003" y="533261"/>
                </a:cubicBezTo>
                <a:close/>
                <a:moveTo>
                  <a:pt x="409302" y="283220"/>
                </a:moveTo>
                <a:lnTo>
                  <a:pt x="300646" y="323929"/>
                </a:lnTo>
                <a:cubicBezTo>
                  <a:pt x="287937" y="328732"/>
                  <a:pt x="279400" y="342047"/>
                  <a:pt x="279400" y="357108"/>
                </a:cubicBezTo>
                <a:lnTo>
                  <a:pt x="279400" y="391051"/>
                </a:lnTo>
                <a:cubicBezTo>
                  <a:pt x="279400" y="472251"/>
                  <a:pt x="321116" y="546140"/>
                  <a:pt x="386309" y="580628"/>
                </a:cubicBezTo>
                <a:lnTo>
                  <a:pt x="404257" y="590123"/>
                </a:lnTo>
                <a:cubicBezTo>
                  <a:pt x="408914" y="592524"/>
                  <a:pt x="413958" y="593834"/>
                  <a:pt x="419003" y="593834"/>
                </a:cubicBezTo>
                <a:cubicBezTo>
                  <a:pt x="424048" y="593834"/>
                  <a:pt x="429189" y="592524"/>
                  <a:pt x="433749" y="590123"/>
                </a:cubicBezTo>
                <a:lnTo>
                  <a:pt x="451697" y="580628"/>
                </a:lnTo>
                <a:cubicBezTo>
                  <a:pt x="517084" y="546031"/>
                  <a:pt x="558800" y="472142"/>
                  <a:pt x="558800" y="390942"/>
                </a:cubicBezTo>
                <a:lnTo>
                  <a:pt x="558800" y="356999"/>
                </a:lnTo>
                <a:cubicBezTo>
                  <a:pt x="558800" y="341938"/>
                  <a:pt x="550263" y="328622"/>
                  <a:pt x="537554" y="323820"/>
                </a:cubicBezTo>
                <a:lnTo>
                  <a:pt x="428898" y="283111"/>
                </a:lnTo>
                <a:cubicBezTo>
                  <a:pt x="422495" y="280710"/>
                  <a:pt x="415608" y="280710"/>
                  <a:pt x="409302" y="28311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23000" y="41910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Защита персональных данных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23000" y="4826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Распознавание фишинга, парольная гигиена и двухфакторная аутентификация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23000" y="698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Слайды 6 — 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22000" y="1778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50800" dir="5400000">
              <a:srgbClr val="000000">
                <a:alpha val="6275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22000" y="1778000"/>
            <a:ext cx="4572000" cy="6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1303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21" name="Shape 19"/>
          <p:cNvSpPr/>
          <p:nvPr/>
        </p:nvSpPr>
        <p:spPr>
          <a:xfrm>
            <a:off x="11303000" y="3429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69850" y="34925"/>
                </a:moveTo>
                <a:cubicBezTo>
                  <a:pt x="31323" y="34925"/>
                  <a:pt x="0" y="66248"/>
                  <a:pt x="0" y="104775"/>
                </a:cubicBezTo>
                <a:lnTo>
                  <a:pt x="0" y="419100"/>
                </a:lnTo>
                <a:cubicBezTo>
                  <a:pt x="0" y="457627"/>
                  <a:pt x="31323" y="488950"/>
                  <a:pt x="69850" y="488950"/>
                </a:cubicBezTo>
                <a:lnTo>
                  <a:pt x="488950" y="488950"/>
                </a:lnTo>
                <a:cubicBezTo>
                  <a:pt x="527477" y="488950"/>
                  <a:pt x="558800" y="457627"/>
                  <a:pt x="558800" y="419100"/>
                </a:cubicBezTo>
                <a:lnTo>
                  <a:pt x="558800" y="209550"/>
                </a:lnTo>
                <a:cubicBezTo>
                  <a:pt x="558800" y="171023"/>
                  <a:pt x="527477" y="139700"/>
                  <a:pt x="488950" y="139700"/>
                </a:cubicBezTo>
                <a:lnTo>
                  <a:pt x="78581" y="139700"/>
                </a:lnTo>
                <a:cubicBezTo>
                  <a:pt x="64066" y="139700"/>
                  <a:pt x="52388" y="128022"/>
                  <a:pt x="52388" y="113506"/>
                </a:cubicBezTo>
                <a:cubicBezTo>
                  <a:pt x="52388" y="98991"/>
                  <a:pt x="64066" y="87313"/>
                  <a:pt x="78581" y="87313"/>
                </a:cubicBezTo>
                <a:lnTo>
                  <a:pt x="497681" y="87313"/>
                </a:lnTo>
                <a:cubicBezTo>
                  <a:pt x="512197" y="87313"/>
                  <a:pt x="523875" y="75634"/>
                  <a:pt x="523875" y="61119"/>
                </a:cubicBezTo>
                <a:cubicBezTo>
                  <a:pt x="523875" y="46603"/>
                  <a:pt x="512197" y="34925"/>
                  <a:pt x="497681" y="34925"/>
                </a:cubicBezTo>
                <a:lnTo>
                  <a:pt x="69850" y="34925"/>
                </a:lnTo>
                <a:close/>
                <a:moveTo>
                  <a:pt x="454025" y="279400"/>
                </a:moveTo>
                <a:cubicBezTo>
                  <a:pt x="473301" y="279400"/>
                  <a:pt x="488950" y="295049"/>
                  <a:pt x="488950" y="314325"/>
                </a:cubicBezTo>
                <a:cubicBezTo>
                  <a:pt x="488950" y="333601"/>
                  <a:pt x="473301" y="349250"/>
                  <a:pt x="454025" y="349250"/>
                </a:cubicBezTo>
                <a:cubicBezTo>
                  <a:pt x="434749" y="349250"/>
                  <a:pt x="419100" y="333601"/>
                  <a:pt x="419100" y="314325"/>
                </a:cubicBezTo>
                <a:cubicBezTo>
                  <a:pt x="419100" y="295049"/>
                  <a:pt x="434749" y="279400"/>
                  <a:pt x="454025" y="279400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1303000" y="419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Защита финансов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303000" y="4826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Безопасность онлайн-платежей и практический чек-лист цифровой безопасности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03000" y="698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Слайды 9 — 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x5i7ycum6gnq/mnt/agents/output/cybersecurity/images/chapter1_threa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B2A4A">
              <a:alpha val="72157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016000" y="1778000"/>
            <a:ext cx="508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Угрозы цифрового мира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16000" y="5207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CBD5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Как киберпреступники атакуют пользователей и каков масштаб угроз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Масштаб киберпреступности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355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349500"/>
            <a:ext cx="3238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4400" b="1" dirty="0">
                <a:solidFill>
                  <a:srgbClr val="E860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$20.9 млрд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79500" y="3175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Потери граждан США в 2025 году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8500" y="1651000"/>
            <a:ext cx="37465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26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2349500"/>
            <a:ext cx="3403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4000" b="1" dirty="0">
                <a:solidFill>
                  <a:srgbClr val="E860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350+ млрд ₽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26000" y="3175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Похищено в России за 3 года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65100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725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0164" y="63500"/>
                </a:moveTo>
                <a:lnTo>
                  <a:pt x="302986" y="63500"/>
                </a:lnTo>
                <a:cubicBezTo>
                  <a:pt x="293279" y="43974"/>
                  <a:pt x="276225" y="27861"/>
                  <a:pt x="254998" y="17780"/>
                </a:cubicBezTo>
                <a:lnTo>
                  <a:pt x="220164" y="63500"/>
                </a:lnTo>
                <a:close/>
                <a:moveTo>
                  <a:pt x="219347" y="7382"/>
                </a:moveTo>
                <a:cubicBezTo>
                  <a:pt x="214086" y="6668"/>
                  <a:pt x="208643" y="6350"/>
                  <a:pt x="203200" y="6350"/>
                </a:cubicBezTo>
                <a:cubicBezTo>
                  <a:pt x="158569" y="6350"/>
                  <a:pt x="120196" y="29845"/>
                  <a:pt x="103414" y="63500"/>
                </a:cubicBezTo>
                <a:lnTo>
                  <a:pt x="176530" y="63500"/>
                </a:lnTo>
                <a:lnTo>
                  <a:pt x="219256" y="7382"/>
                </a:lnTo>
                <a:close/>
                <a:moveTo>
                  <a:pt x="203200" y="196850"/>
                </a:moveTo>
                <a:cubicBezTo>
                  <a:pt x="263344" y="196850"/>
                  <a:pt x="312057" y="154226"/>
                  <a:pt x="312057" y="101600"/>
                </a:cubicBezTo>
                <a:lnTo>
                  <a:pt x="94343" y="101600"/>
                </a:lnTo>
                <a:cubicBezTo>
                  <a:pt x="94343" y="154226"/>
                  <a:pt x="143056" y="196850"/>
                  <a:pt x="203200" y="196850"/>
                </a:cubicBezTo>
                <a:close/>
                <a:moveTo>
                  <a:pt x="89535" y="271304"/>
                </a:moveTo>
                <a:cubicBezTo>
                  <a:pt x="44722" y="293846"/>
                  <a:pt x="14514" y="336153"/>
                  <a:pt x="14514" y="384651"/>
                </a:cubicBezTo>
                <a:cubicBezTo>
                  <a:pt x="14514" y="396637"/>
                  <a:pt x="25672" y="406400"/>
                  <a:pt x="39370" y="406400"/>
                </a:cubicBezTo>
                <a:lnTo>
                  <a:pt x="176349" y="406400"/>
                </a:lnTo>
                <a:lnTo>
                  <a:pt x="89444" y="271304"/>
                </a:lnTo>
                <a:close/>
                <a:moveTo>
                  <a:pt x="130447" y="257254"/>
                </a:moveTo>
                <a:lnTo>
                  <a:pt x="169182" y="317500"/>
                </a:lnTo>
                <a:lnTo>
                  <a:pt x="246743" y="317500"/>
                </a:lnTo>
                <a:cubicBezTo>
                  <a:pt x="286839" y="317500"/>
                  <a:pt x="319314" y="345916"/>
                  <a:pt x="319314" y="381000"/>
                </a:cubicBezTo>
                <a:cubicBezTo>
                  <a:pt x="319314" y="390049"/>
                  <a:pt x="317137" y="398621"/>
                  <a:pt x="313236" y="406400"/>
                </a:cubicBezTo>
                <a:lnTo>
                  <a:pt x="366939" y="406400"/>
                </a:lnTo>
                <a:cubicBezTo>
                  <a:pt x="380637" y="406400"/>
                  <a:pt x="391795" y="396637"/>
                  <a:pt x="391795" y="384651"/>
                </a:cubicBezTo>
                <a:cubicBezTo>
                  <a:pt x="391795" y="312499"/>
                  <a:pt x="324939" y="254000"/>
                  <a:pt x="242479" y="254000"/>
                </a:cubicBezTo>
                <a:lnTo>
                  <a:pt x="163649" y="254000"/>
                </a:lnTo>
                <a:cubicBezTo>
                  <a:pt x="152219" y="254000"/>
                  <a:pt x="141061" y="255111"/>
                  <a:pt x="130356" y="257254"/>
                </a:cubicBezTo>
                <a:close/>
                <a:moveTo>
                  <a:pt x="193675" y="355600"/>
                </a:moveTo>
                <a:lnTo>
                  <a:pt x="226332" y="406400"/>
                </a:lnTo>
                <a:lnTo>
                  <a:pt x="246743" y="406400"/>
                </a:lnTo>
                <a:cubicBezTo>
                  <a:pt x="262799" y="406400"/>
                  <a:pt x="275771" y="395049"/>
                  <a:pt x="275771" y="381000"/>
                </a:cubicBezTo>
                <a:cubicBezTo>
                  <a:pt x="275771" y="366951"/>
                  <a:pt x="262799" y="355600"/>
                  <a:pt x="246743" y="355600"/>
                </a:cubicBezTo>
                <a:lnTo>
                  <a:pt x="193675" y="355600"/>
                </a:ln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8572500" y="23495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4400" b="1" dirty="0">
                <a:solidFill>
                  <a:srgbClr val="E860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$20 699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572500" y="3175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Средний убыток на жертву в США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01500" y="165100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319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0933" y="127000"/>
                </a:moveTo>
                <a:cubicBezTo>
                  <a:pt x="258445" y="127000"/>
                  <a:pt x="248356" y="115649"/>
                  <a:pt x="248356" y="101600"/>
                </a:cubicBezTo>
                <a:cubicBezTo>
                  <a:pt x="248356" y="87551"/>
                  <a:pt x="258445" y="76200"/>
                  <a:pt x="270933" y="76200"/>
                </a:cubicBezTo>
                <a:lnTo>
                  <a:pt x="383822" y="76200"/>
                </a:lnTo>
                <a:cubicBezTo>
                  <a:pt x="396311" y="76200"/>
                  <a:pt x="406400" y="87551"/>
                  <a:pt x="406400" y="101600"/>
                </a:cubicBezTo>
                <a:lnTo>
                  <a:pt x="406400" y="228600"/>
                </a:lnTo>
                <a:cubicBezTo>
                  <a:pt x="406400" y="242649"/>
                  <a:pt x="396311" y="254000"/>
                  <a:pt x="383822" y="254000"/>
                </a:cubicBezTo>
                <a:cubicBezTo>
                  <a:pt x="371334" y="254000"/>
                  <a:pt x="361244" y="242649"/>
                  <a:pt x="361244" y="228600"/>
                </a:cubicBezTo>
                <a:lnTo>
                  <a:pt x="361244" y="162957"/>
                </a:lnTo>
                <a:lnTo>
                  <a:pt x="241723" y="297418"/>
                </a:lnTo>
                <a:cubicBezTo>
                  <a:pt x="232904" y="307340"/>
                  <a:pt x="218581" y="307340"/>
                  <a:pt x="209762" y="297418"/>
                </a:cubicBezTo>
                <a:lnTo>
                  <a:pt x="135467" y="213757"/>
                </a:lnTo>
                <a:lnTo>
                  <a:pt x="38523" y="322739"/>
                </a:lnTo>
                <a:cubicBezTo>
                  <a:pt x="29704" y="332661"/>
                  <a:pt x="15381" y="332661"/>
                  <a:pt x="6562" y="322739"/>
                </a:cubicBezTo>
                <a:cubicBezTo>
                  <a:pt x="-2258" y="312817"/>
                  <a:pt x="-2258" y="296704"/>
                  <a:pt x="6562" y="286782"/>
                </a:cubicBezTo>
                <a:lnTo>
                  <a:pt x="119451" y="159782"/>
                </a:lnTo>
                <a:cubicBezTo>
                  <a:pt x="128270" y="149860"/>
                  <a:pt x="142593" y="149860"/>
                  <a:pt x="151412" y="159782"/>
                </a:cubicBezTo>
                <a:lnTo>
                  <a:pt x="225778" y="243443"/>
                </a:lnTo>
                <a:lnTo>
                  <a:pt x="329283" y="127000"/>
                </a:lnTo>
                <a:lnTo>
                  <a:pt x="270933" y="127000"/>
                </a:ln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18" name="Text 16"/>
          <p:cNvSpPr/>
          <p:nvPr/>
        </p:nvSpPr>
        <p:spPr>
          <a:xfrm>
            <a:off x="12319000" y="23495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4400" b="1" dirty="0">
                <a:solidFill>
                  <a:srgbClr val="E860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+26%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2319000" y="31750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Рост потерь за год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318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Топ-5 киберугроз в 2025 году</a:t>
            </a:r>
            <a:endParaRPr lang="en-US" sz="2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62000" y="4826000"/>
          <a:ext cx="7366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636000" y="4318000"/>
            <a:ext cx="685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E860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Ключевые выводы: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В 2025 году в IC3 поступило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более 1 млн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обращений о киберпреступлениях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Наибольшие убытки — от мошенничества с инвестициями: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$8.65 млрд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Пожилые люди (60+) — основная мишень: потери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$7.75 млрд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44%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утечек приходится на средний бизнес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E2E8F0">
              <a:alpha val="37647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4986000" y="8839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62000" y="8839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Источник: IC3 FBI, Positive Technologies, 2025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Главные виды кибератак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33635"/>
                </a:moveTo>
                <a:lnTo>
                  <a:pt x="85019" y="174427"/>
                </a:lnTo>
                <a:lnTo>
                  <a:pt x="224455" y="290711"/>
                </a:lnTo>
                <a:cubicBezTo>
                  <a:pt x="229129" y="294580"/>
                  <a:pt x="234333" y="297557"/>
                  <a:pt x="239889" y="299343"/>
                </a:cubicBezTo>
                <a:lnTo>
                  <a:pt x="239889" y="460375"/>
                </a:lnTo>
                <a:cubicBezTo>
                  <a:pt x="239889" y="465832"/>
                  <a:pt x="240330" y="471091"/>
                  <a:pt x="241035" y="476250"/>
                </a:cubicBezTo>
                <a:lnTo>
                  <a:pt x="84667" y="476250"/>
                </a:lnTo>
                <a:cubicBezTo>
                  <a:pt x="53534" y="476250"/>
                  <a:pt x="28222" y="447774"/>
                  <a:pt x="28222" y="412750"/>
                </a:cubicBezTo>
                <a:lnTo>
                  <a:pt x="28222" y="174724"/>
                </a:lnTo>
                <a:cubicBezTo>
                  <a:pt x="28222" y="154583"/>
                  <a:pt x="36689" y="135632"/>
                  <a:pt x="51065" y="123726"/>
                </a:cubicBezTo>
                <a:lnTo>
                  <a:pt x="224455" y="-20836"/>
                </a:lnTo>
                <a:cubicBezTo>
                  <a:pt x="233010" y="-27980"/>
                  <a:pt x="243328" y="-31750"/>
                  <a:pt x="254000" y="-31750"/>
                </a:cubicBezTo>
                <a:cubicBezTo>
                  <a:pt x="264672" y="-31750"/>
                  <a:pt x="274990" y="-27880"/>
                  <a:pt x="283545" y="-20836"/>
                </a:cubicBezTo>
                <a:lnTo>
                  <a:pt x="456935" y="123726"/>
                </a:lnTo>
                <a:cubicBezTo>
                  <a:pt x="463285" y="128984"/>
                  <a:pt x="468489" y="135632"/>
                  <a:pt x="472281" y="143173"/>
                </a:cubicBezTo>
                <a:cubicBezTo>
                  <a:pt x="470076" y="142974"/>
                  <a:pt x="467872" y="142875"/>
                  <a:pt x="465667" y="142875"/>
                </a:cubicBezTo>
                <a:lnTo>
                  <a:pt x="385057" y="142875"/>
                </a:lnTo>
                <a:lnTo>
                  <a:pt x="254000" y="33635"/>
                </a:lnTo>
                <a:close/>
                <a:moveTo>
                  <a:pt x="282222" y="238125"/>
                </a:moveTo>
                <a:cubicBezTo>
                  <a:pt x="282222" y="211832"/>
                  <a:pt x="301184" y="190500"/>
                  <a:pt x="324556" y="190500"/>
                </a:cubicBezTo>
                <a:lnTo>
                  <a:pt x="465667" y="190500"/>
                </a:lnTo>
                <a:cubicBezTo>
                  <a:pt x="489038" y="190500"/>
                  <a:pt x="508000" y="211832"/>
                  <a:pt x="508000" y="238125"/>
                </a:cubicBezTo>
                <a:lnTo>
                  <a:pt x="508000" y="460375"/>
                </a:lnTo>
                <a:cubicBezTo>
                  <a:pt x="508000" y="486668"/>
                  <a:pt x="489038" y="508000"/>
                  <a:pt x="465667" y="508000"/>
                </a:cubicBezTo>
                <a:lnTo>
                  <a:pt x="324556" y="508000"/>
                </a:lnTo>
                <a:cubicBezTo>
                  <a:pt x="301184" y="508000"/>
                  <a:pt x="282222" y="486668"/>
                  <a:pt x="282222" y="460375"/>
                </a:cubicBezTo>
                <a:lnTo>
                  <a:pt x="282222" y="238125"/>
                </a:lnTo>
                <a:close/>
                <a:moveTo>
                  <a:pt x="352778" y="254000"/>
                </a:moveTo>
                <a:cubicBezTo>
                  <a:pt x="341048" y="254000"/>
                  <a:pt x="331611" y="264616"/>
                  <a:pt x="331611" y="277813"/>
                </a:cubicBezTo>
                <a:cubicBezTo>
                  <a:pt x="331611" y="291009"/>
                  <a:pt x="341048" y="301625"/>
                  <a:pt x="352778" y="301625"/>
                </a:cubicBezTo>
                <a:lnTo>
                  <a:pt x="437444" y="301625"/>
                </a:lnTo>
                <a:cubicBezTo>
                  <a:pt x="449174" y="301625"/>
                  <a:pt x="458611" y="291009"/>
                  <a:pt x="458611" y="277813"/>
                </a:cubicBezTo>
                <a:cubicBezTo>
                  <a:pt x="458611" y="264616"/>
                  <a:pt x="449174" y="254000"/>
                  <a:pt x="437444" y="254000"/>
                </a:cubicBezTo>
                <a:lnTo>
                  <a:pt x="352778" y="254000"/>
                </a:lnTo>
                <a:close/>
                <a:moveTo>
                  <a:pt x="352778" y="349250"/>
                </a:moveTo>
                <a:cubicBezTo>
                  <a:pt x="341048" y="349250"/>
                  <a:pt x="331611" y="359866"/>
                  <a:pt x="331611" y="373063"/>
                </a:cubicBezTo>
                <a:cubicBezTo>
                  <a:pt x="331611" y="386259"/>
                  <a:pt x="341048" y="396875"/>
                  <a:pt x="352778" y="396875"/>
                </a:cubicBezTo>
                <a:lnTo>
                  <a:pt x="402167" y="396875"/>
                </a:lnTo>
                <a:cubicBezTo>
                  <a:pt x="413897" y="396875"/>
                  <a:pt x="423333" y="386259"/>
                  <a:pt x="423333" y="373063"/>
                </a:cubicBezTo>
                <a:cubicBezTo>
                  <a:pt x="423333" y="359866"/>
                  <a:pt x="413897" y="349250"/>
                  <a:pt x="402167" y="349250"/>
                </a:cubicBezTo>
                <a:lnTo>
                  <a:pt x="352778" y="349250"/>
                </a:ln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18415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Фишинг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41500" y="22860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Поддельные письма и сайты, имитирующие доверенные источники, для кражи паролей и данных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587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995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lnTo>
                  <a:pt x="169333" y="158750"/>
                </a:lnTo>
                <a:lnTo>
                  <a:pt x="338667" y="158750"/>
                </a:lnTo>
                <a:lnTo>
                  <a:pt x="338667" y="95250"/>
                </a:lnTo>
                <a:cubicBezTo>
                  <a:pt x="338667" y="60226"/>
                  <a:pt x="300699" y="31750"/>
                  <a:pt x="254000" y="31750"/>
                </a:cubicBezTo>
                <a:cubicBezTo>
                  <a:pt x="207301" y="31750"/>
                  <a:pt x="169333" y="60226"/>
                  <a:pt x="169333" y="95250"/>
                </a:cubicBezTo>
                <a:close/>
                <a:moveTo>
                  <a:pt x="84667" y="158750"/>
                </a:moveTo>
                <a:lnTo>
                  <a:pt x="84667" y="95250"/>
                </a:lnTo>
                <a:cubicBezTo>
                  <a:pt x="84667" y="25102"/>
                  <a:pt x="160470" y="-31750"/>
                  <a:pt x="254000" y="-31750"/>
                </a:cubicBezTo>
                <a:cubicBezTo>
                  <a:pt x="347530" y="-31750"/>
                  <a:pt x="423333" y="25102"/>
                  <a:pt x="423333" y="95250"/>
                </a:cubicBezTo>
                <a:lnTo>
                  <a:pt x="423333" y="158750"/>
                </a:lnTo>
                <a:cubicBezTo>
                  <a:pt x="470032" y="158750"/>
                  <a:pt x="508000" y="187226"/>
                  <a:pt x="508000" y="222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37968" y="158750"/>
                  <a:pt x="84667" y="158750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Вымогатели (Ransomware)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61500" y="22860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Шифрование файлов с требованием выкупа. ФБР рекомендует не платить злоумышленникам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556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95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cubicBezTo>
                  <a:pt x="169333" y="42664"/>
                  <a:pt x="207257" y="0"/>
                  <a:pt x="254000" y="0"/>
                </a:cubicBezTo>
                <a:cubicBezTo>
                  <a:pt x="300743" y="0"/>
                  <a:pt x="338667" y="42664"/>
                  <a:pt x="338667" y="95250"/>
                </a:cubicBezTo>
                <a:lnTo>
                  <a:pt x="338667" y="98822"/>
                </a:lnTo>
                <a:cubicBezTo>
                  <a:pt x="338667" y="114399"/>
                  <a:pt x="327466" y="127000"/>
                  <a:pt x="313619" y="127000"/>
                </a:cubicBezTo>
                <a:lnTo>
                  <a:pt x="194469" y="127000"/>
                </a:lnTo>
                <a:cubicBezTo>
                  <a:pt x="180622" y="127000"/>
                  <a:pt x="169422" y="114399"/>
                  <a:pt x="169422" y="98822"/>
                </a:cubicBezTo>
                <a:lnTo>
                  <a:pt x="169422" y="95250"/>
                </a:lnTo>
                <a:close/>
                <a:moveTo>
                  <a:pt x="474133" y="107950"/>
                </a:moveTo>
                <a:cubicBezTo>
                  <a:pt x="483482" y="121940"/>
                  <a:pt x="480924" y="141883"/>
                  <a:pt x="468489" y="152400"/>
                </a:cubicBezTo>
                <a:lnTo>
                  <a:pt x="382235" y="225127"/>
                </a:lnTo>
                <a:cubicBezTo>
                  <a:pt x="386909" y="233958"/>
                  <a:pt x="390437" y="243681"/>
                  <a:pt x="392642" y="254000"/>
                </a:cubicBezTo>
                <a:lnTo>
                  <a:pt x="479778" y="254000"/>
                </a:lnTo>
                <a:cubicBezTo>
                  <a:pt x="495388" y="254000"/>
                  <a:pt x="508000" y="268188"/>
                  <a:pt x="508000" y="285750"/>
                </a:cubicBezTo>
                <a:cubicBezTo>
                  <a:pt x="508000" y="303312"/>
                  <a:pt x="495388" y="317500"/>
                  <a:pt x="479778" y="317500"/>
                </a:cubicBezTo>
                <a:lnTo>
                  <a:pt x="395111" y="317500"/>
                </a:lnTo>
                <a:lnTo>
                  <a:pt x="395111" y="349250"/>
                </a:lnTo>
                <a:cubicBezTo>
                  <a:pt x="395111" y="351830"/>
                  <a:pt x="395023" y="354509"/>
                  <a:pt x="394935" y="357088"/>
                </a:cubicBezTo>
                <a:lnTo>
                  <a:pt x="468489" y="419100"/>
                </a:lnTo>
                <a:cubicBezTo>
                  <a:pt x="480924" y="429617"/>
                  <a:pt x="483482" y="449560"/>
                  <a:pt x="474133" y="463550"/>
                </a:cubicBezTo>
                <a:cubicBezTo>
                  <a:pt x="464785" y="477540"/>
                  <a:pt x="447058" y="480417"/>
                  <a:pt x="434622" y="469900"/>
                </a:cubicBezTo>
                <a:lnTo>
                  <a:pt x="378972" y="422970"/>
                </a:lnTo>
                <a:cubicBezTo>
                  <a:pt x="358510" y="466824"/>
                  <a:pt x="320322" y="498574"/>
                  <a:pt x="275167" y="506214"/>
                </a:cubicBezTo>
                <a:lnTo>
                  <a:pt x="275167" y="277813"/>
                </a:lnTo>
                <a:cubicBezTo>
                  <a:pt x="275167" y="264616"/>
                  <a:pt x="265730" y="254000"/>
                  <a:pt x="254000" y="254000"/>
                </a:cubicBezTo>
                <a:cubicBezTo>
                  <a:pt x="242270" y="254000"/>
                  <a:pt x="232833" y="264616"/>
                  <a:pt x="232833" y="277813"/>
                </a:cubicBezTo>
                <a:lnTo>
                  <a:pt x="232833" y="506214"/>
                </a:lnTo>
                <a:cubicBezTo>
                  <a:pt x="187678" y="498574"/>
                  <a:pt x="149490" y="466824"/>
                  <a:pt x="129028" y="422970"/>
                </a:cubicBezTo>
                <a:lnTo>
                  <a:pt x="73378" y="469900"/>
                </a:lnTo>
                <a:cubicBezTo>
                  <a:pt x="60942" y="480417"/>
                  <a:pt x="43215" y="477540"/>
                  <a:pt x="33867" y="463550"/>
                </a:cubicBezTo>
                <a:cubicBezTo>
                  <a:pt x="24518" y="449560"/>
                  <a:pt x="27076" y="429617"/>
                  <a:pt x="39511" y="419100"/>
                </a:cubicBezTo>
                <a:lnTo>
                  <a:pt x="113065" y="357088"/>
                </a:lnTo>
                <a:cubicBezTo>
                  <a:pt x="112977" y="354509"/>
                  <a:pt x="112889" y="351929"/>
                  <a:pt x="112889" y="349250"/>
                </a:cubicBezTo>
                <a:lnTo>
                  <a:pt x="112889" y="317500"/>
                </a:lnTo>
                <a:lnTo>
                  <a:pt x="28222" y="317500"/>
                </a:lnTo>
                <a:cubicBezTo>
                  <a:pt x="12612" y="317500"/>
                  <a:pt x="0" y="303312"/>
                  <a:pt x="0" y="285750"/>
                </a:cubicBezTo>
                <a:cubicBezTo>
                  <a:pt x="0" y="268188"/>
                  <a:pt x="12612" y="254000"/>
                  <a:pt x="28222" y="254000"/>
                </a:cubicBezTo>
                <a:lnTo>
                  <a:pt x="115358" y="254000"/>
                </a:lnTo>
                <a:cubicBezTo>
                  <a:pt x="117563" y="243681"/>
                  <a:pt x="121091" y="233958"/>
                  <a:pt x="125765" y="225127"/>
                </a:cubicBezTo>
                <a:lnTo>
                  <a:pt x="39511" y="152400"/>
                </a:lnTo>
                <a:cubicBezTo>
                  <a:pt x="27076" y="141883"/>
                  <a:pt x="24518" y="121940"/>
                  <a:pt x="33867" y="107950"/>
                </a:cubicBezTo>
                <a:cubicBezTo>
                  <a:pt x="43215" y="93960"/>
                  <a:pt x="60942" y="91083"/>
                  <a:pt x="73378" y="101600"/>
                </a:cubicBezTo>
                <a:lnTo>
                  <a:pt x="169333" y="182563"/>
                </a:lnTo>
                <a:cubicBezTo>
                  <a:pt x="180181" y="177502"/>
                  <a:pt x="192088" y="174625"/>
                  <a:pt x="204611" y="174625"/>
                </a:cubicBezTo>
                <a:lnTo>
                  <a:pt x="303389" y="174625"/>
                </a:lnTo>
                <a:cubicBezTo>
                  <a:pt x="315913" y="174625"/>
                  <a:pt x="327819" y="177403"/>
                  <a:pt x="338667" y="182563"/>
                </a:cubicBezTo>
                <a:lnTo>
                  <a:pt x="434622" y="101600"/>
                </a:lnTo>
                <a:cubicBezTo>
                  <a:pt x="447058" y="91083"/>
                  <a:pt x="464785" y="93960"/>
                  <a:pt x="474133" y="107950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1841500" y="3810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Вредоносное ПО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41500" y="4254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Вирусы, трояны и шпионские программы, крадущие данные или повреждающие систему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3556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995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63500"/>
                </a:moveTo>
                <a:cubicBezTo>
                  <a:pt x="56444" y="63500"/>
                  <a:pt x="0" y="158750"/>
                  <a:pt x="0" y="269875"/>
                </a:cubicBezTo>
                <a:cubicBezTo>
                  <a:pt x="0" y="381000"/>
                  <a:pt x="70556" y="444500"/>
                  <a:pt x="155222" y="444500"/>
                </a:cubicBezTo>
                <a:lnTo>
                  <a:pt x="162631" y="444500"/>
                </a:lnTo>
                <a:cubicBezTo>
                  <a:pt x="183974" y="444500"/>
                  <a:pt x="203553" y="430907"/>
                  <a:pt x="213078" y="409377"/>
                </a:cubicBezTo>
                <a:lnTo>
                  <a:pt x="233539" y="363438"/>
                </a:lnTo>
                <a:cubicBezTo>
                  <a:pt x="237419" y="354707"/>
                  <a:pt x="245269" y="349250"/>
                  <a:pt x="254000" y="349250"/>
                </a:cubicBezTo>
                <a:cubicBezTo>
                  <a:pt x="262731" y="349250"/>
                  <a:pt x="270581" y="354707"/>
                  <a:pt x="274461" y="363438"/>
                </a:cubicBezTo>
                <a:lnTo>
                  <a:pt x="294922" y="409377"/>
                </a:lnTo>
                <a:cubicBezTo>
                  <a:pt x="304447" y="430907"/>
                  <a:pt x="324026" y="444500"/>
                  <a:pt x="345369" y="444500"/>
                </a:cubicBezTo>
                <a:lnTo>
                  <a:pt x="352778" y="444500"/>
                </a:lnTo>
                <a:cubicBezTo>
                  <a:pt x="437444" y="444500"/>
                  <a:pt x="508000" y="381000"/>
                  <a:pt x="508000" y="269875"/>
                </a:cubicBezTo>
                <a:cubicBezTo>
                  <a:pt x="508000" y="158750"/>
                  <a:pt x="451556" y="63500"/>
                  <a:pt x="254000" y="63500"/>
                </a:cubicBezTo>
                <a:close/>
                <a:moveTo>
                  <a:pt x="84667" y="254000"/>
                </a:moveTo>
                <a:cubicBezTo>
                  <a:pt x="84667" y="218953"/>
                  <a:pt x="109959" y="190500"/>
                  <a:pt x="141111" y="190500"/>
                </a:cubicBezTo>
                <a:cubicBezTo>
                  <a:pt x="172264" y="190500"/>
                  <a:pt x="197556" y="218953"/>
                  <a:pt x="197556" y="254000"/>
                </a:cubicBezTo>
                <a:cubicBezTo>
                  <a:pt x="197556" y="289047"/>
                  <a:pt x="172264" y="317500"/>
                  <a:pt x="141111" y="317500"/>
                </a:cubicBezTo>
                <a:cubicBezTo>
                  <a:pt x="109959" y="317500"/>
                  <a:pt x="84667" y="289047"/>
                  <a:pt x="84667" y="254000"/>
                </a:cubicBezTo>
                <a:close/>
                <a:moveTo>
                  <a:pt x="366889" y="190500"/>
                </a:moveTo>
                <a:cubicBezTo>
                  <a:pt x="398041" y="190500"/>
                  <a:pt x="423333" y="218953"/>
                  <a:pt x="423333" y="254000"/>
                </a:cubicBezTo>
                <a:cubicBezTo>
                  <a:pt x="423333" y="289047"/>
                  <a:pt x="398041" y="317500"/>
                  <a:pt x="366889" y="317500"/>
                </a:cubicBezTo>
                <a:cubicBezTo>
                  <a:pt x="335736" y="317500"/>
                  <a:pt x="310444" y="289047"/>
                  <a:pt x="310444" y="254000"/>
                </a:cubicBezTo>
                <a:cubicBezTo>
                  <a:pt x="310444" y="218953"/>
                  <a:pt x="335736" y="190500"/>
                  <a:pt x="366889" y="190500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18" name="Text 16"/>
          <p:cNvSpPr/>
          <p:nvPr/>
        </p:nvSpPr>
        <p:spPr>
          <a:xfrm>
            <a:off x="9461500" y="3810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Социальная инженерия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61500" y="4254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Манипуляция людьми с использованием психологии: страх, спешка, доверие, жадность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6515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Психологические триггеры атак: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62000" y="6286500"/>
            <a:ext cx="3429000" cy="1016000"/>
          </a:xfrm>
          <a:prstGeom prst="roundRect">
            <a:avLst>
              <a:gd name="adj" fmla="val 10000"/>
            </a:avLst>
          </a:prstGeom>
          <a:solidFill>
            <a:srgbClr val="E8604C">
              <a:alpha val="823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6413500"/>
            <a:ext cx="2476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Страх и паника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«Аккаунт заблокируют!»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08500" y="6286500"/>
            <a:ext cx="3429000" cy="1079500"/>
          </a:xfrm>
          <a:prstGeom prst="roundRect">
            <a:avLst>
              <a:gd name="adj" fmla="val 10000"/>
            </a:avLst>
          </a:prstGeom>
          <a:solidFill>
            <a:srgbClr val="E8604C">
              <a:alpha val="823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625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26" name="Text 24"/>
          <p:cNvSpPr/>
          <p:nvPr/>
        </p:nvSpPr>
        <p:spPr>
          <a:xfrm>
            <a:off x="5270500" y="64135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Срочность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«Действуйте немедленно»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55000" y="6286500"/>
            <a:ext cx="3429000" cy="1016000"/>
          </a:xfrm>
          <a:prstGeom prst="roundRect">
            <a:avLst>
              <a:gd name="adj" fmla="val 10000"/>
            </a:avLst>
          </a:prstGeom>
          <a:solidFill>
            <a:srgbClr val="E8604C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5090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2614" y="21530"/>
                </a:moveTo>
                <a:cubicBezTo>
                  <a:pt x="163909" y="7987"/>
                  <a:pt x="149957" y="0"/>
                  <a:pt x="135140" y="0"/>
                </a:cubicBezTo>
                <a:cubicBezTo>
                  <a:pt x="109582" y="0"/>
                  <a:pt x="88900" y="23267"/>
                  <a:pt x="88900" y="52020"/>
                </a:cubicBezTo>
                <a:lnTo>
                  <a:pt x="88900" y="53687"/>
                </a:lnTo>
                <a:cubicBezTo>
                  <a:pt x="88900" y="98415"/>
                  <a:pt x="139524" y="146338"/>
                  <a:pt x="164342" y="167104"/>
                </a:cubicBezTo>
                <a:cubicBezTo>
                  <a:pt x="172367" y="173841"/>
                  <a:pt x="183171" y="173841"/>
                  <a:pt x="191197" y="167104"/>
                </a:cubicBezTo>
                <a:cubicBezTo>
                  <a:pt x="216015" y="146268"/>
                  <a:pt x="266638" y="98415"/>
                  <a:pt x="266638" y="53687"/>
                </a:cubicBezTo>
                <a:lnTo>
                  <a:pt x="266638" y="52020"/>
                </a:lnTo>
                <a:cubicBezTo>
                  <a:pt x="266638" y="23267"/>
                  <a:pt x="245957" y="0"/>
                  <a:pt x="220398" y="0"/>
                </a:cubicBezTo>
                <a:cubicBezTo>
                  <a:pt x="205581" y="0"/>
                  <a:pt x="191629" y="7987"/>
                  <a:pt x="182924" y="21530"/>
                </a:cubicBezTo>
                <a:lnTo>
                  <a:pt x="177800" y="29656"/>
                </a:lnTo>
                <a:lnTo>
                  <a:pt x="172614" y="21530"/>
                </a:lnTo>
                <a:close/>
                <a:moveTo>
                  <a:pt x="67478" y="237182"/>
                </a:moveTo>
                <a:lnTo>
                  <a:pt x="41178" y="266700"/>
                </a:lnTo>
                <a:lnTo>
                  <a:pt x="19756" y="266700"/>
                </a:lnTo>
                <a:cubicBezTo>
                  <a:pt x="8828" y="266700"/>
                  <a:pt x="0" y="276632"/>
                  <a:pt x="0" y="288925"/>
                </a:cubicBezTo>
                <a:lnTo>
                  <a:pt x="0" y="333375"/>
                </a:lnTo>
                <a:cubicBezTo>
                  <a:pt x="0" y="345668"/>
                  <a:pt x="8828" y="355600"/>
                  <a:pt x="19756" y="355600"/>
                </a:cubicBezTo>
                <a:lnTo>
                  <a:pt x="217620" y="355600"/>
                </a:lnTo>
                <a:cubicBezTo>
                  <a:pt x="235523" y="355600"/>
                  <a:pt x="252995" y="349141"/>
                  <a:pt x="267441" y="337195"/>
                </a:cubicBezTo>
                <a:lnTo>
                  <a:pt x="345599" y="272395"/>
                </a:lnTo>
                <a:cubicBezTo>
                  <a:pt x="356588" y="263297"/>
                  <a:pt x="358934" y="245934"/>
                  <a:pt x="350846" y="233571"/>
                </a:cubicBezTo>
                <a:cubicBezTo>
                  <a:pt x="342759" y="221208"/>
                  <a:pt x="327325" y="218569"/>
                  <a:pt x="316336" y="227667"/>
                </a:cubicBezTo>
                <a:lnTo>
                  <a:pt x="242376" y="288925"/>
                </a:lnTo>
                <a:lnTo>
                  <a:pt x="172861" y="288925"/>
                </a:lnTo>
                <a:cubicBezTo>
                  <a:pt x="164650" y="288925"/>
                  <a:pt x="158044" y="281494"/>
                  <a:pt x="158044" y="272256"/>
                </a:cubicBezTo>
                <a:cubicBezTo>
                  <a:pt x="158044" y="263019"/>
                  <a:pt x="164650" y="255587"/>
                  <a:pt x="172861" y="255587"/>
                </a:cubicBezTo>
                <a:lnTo>
                  <a:pt x="217311" y="255587"/>
                </a:lnTo>
                <a:cubicBezTo>
                  <a:pt x="228238" y="255587"/>
                  <a:pt x="237067" y="245656"/>
                  <a:pt x="237067" y="233363"/>
                </a:cubicBezTo>
                <a:cubicBezTo>
                  <a:pt x="237067" y="221069"/>
                  <a:pt x="228238" y="211138"/>
                  <a:pt x="217311" y="211138"/>
                </a:cubicBezTo>
                <a:lnTo>
                  <a:pt x="123349" y="211138"/>
                </a:lnTo>
                <a:cubicBezTo>
                  <a:pt x="102420" y="211138"/>
                  <a:pt x="82294" y="220514"/>
                  <a:pt x="67478" y="237182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29" name="Text 27"/>
          <p:cNvSpPr/>
          <p:nvPr/>
        </p:nvSpPr>
        <p:spPr>
          <a:xfrm>
            <a:off x="9017000" y="6413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Доверие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«От имени банка»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001500" y="6286500"/>
            <a:ext cx="3429000" cy="1016000"/>
          </a:xfrm>
          <a:prstGeom prst="roundRect">
            <a:avLst>
              <a:gd name="adj" fmla="val 10000"/>
            </a:avLst>
          </a:prstGeom>
          <a:solidFill>
            <a:srgbClr val="E8604C">
              <a:alpha val="8235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22555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3292" y="47784"/>
                </a:moveTo>
                <a:cubicBezTo>
                  <a:pt x="228570" y="38824"/>
                  <a:pt x="238155" y="33337"/>
                  <a:pt x="248503" y="33337"/>
                </a:cubicBezTo>
                <a:lnTo>
                  <a:pt x="250031" y="33337"/>
                </a:lnTo>
                <a:cubicBezTo>
                  <a:pt x="265380" y="33337"/>
                  <a:pt x="277813" y="45770"/>
                  <a:pt x="277813" y="61119"/>
                </a:cubicBezTo>
                <a:cubicBezTo>
                  <a:pt x="277813" y="76468"/>
                  <a:pt x="265380" y="88900"/>
                  <a:pt x="250031" y="88900"/>
                </a:cubicBezTo>
                <a:lnTo>
                  <a:pt x="199122" y="88900"/>
                </a:lnTo>
                <a:lnTo>
                  <a:pt x="223292" y="47784"/>
                </a:lnTo>
                <a:close/>
                <a:moveTo>
                  <a:pt x="132308" y="47784"/>
                </a:moveTo>
                <a:lnTo>
                  <a:pt x="156478" y="88900"/>
                </a:lnTo>
                <a:lnTo>
                  <a:pt x="105569" y="88900"/>
                </a:lnTo>
                <a:cubicBezTo>
                  <a:pt x="90220" y="88900"/>
                  <a:pt x="77788" y="76468"/>
                  <a:pt x="77788" y="61119"/>
                </a:cubicBezTo>
                <a:cubicBezTo>
                  <a:pt x="77788" y="45770"/>
                  <a:pt x="90220" y="33337"/>
                  <a:pt x="105569" y="33337"/>
                </a:cubicBezTo>
                <a:lnTo>
                  <a:pt x="107097" y="33337"/>
                </a:lnTo>
                <a:cubicBezTo>
                  <a:pt x="117445" y="33337"/>
                  <a:pt x="127099" y="38824"/>
                  <a:pt x="132308" y="47784"/>
                </a:cubicBezTo>
                <a:close/>
                <a:moveTo>
                  <a:pt x="194538" y="30907"/>
                </a:moveTo>
                <a:lnTo>
                  <a:pt x="177800" y="59382"/>
                </a:lnTo>
                <a:lnTo>
                  <a:pt x="161062" y="30907"/>
                </a:lnTo>
                <a:cubicBezTo>
                  <a:pt x="149810" y="11738"/>
                  <a:pt x="129252" y="0"/>
                  <a:pt x="107097" y="0"/>
                </a:cubicBezTo>
                <a:lnTo>
                  <a:pt x="105569" y="0"/>
                </a:lnTo>
                <a:cubicBezTo>
                  <a:pt x="71815" y="0"/>
                  <a:pt x="44450" y="27365"/>
                  <a:pt x="44450" y="61119"/>
                </a:cubicBezTo>
                <a:cubicBezTo>
                  <a:pt x="44450" y="71120"/>
                  <a:pt x="46881" y="80566"/>
                  <a:pt x="51117" y="88900"/>
                </a:cubicBezTo>
                <a:lnTo>
                  <a:pt x="22225" y="88900"/>
                </a:lnTo>
                <a:cubicBezTo>
                  <a:pt x="9932" y="88900"/>
                  <a:pt x="0" y="98832"/>
                  <a:pt x="0" y="111125"/>
                </a:cubicBezTo>
                <a:lnTo>
                  <a:pt x="0" y="133350"/>
                </a:lnTo>
                <a:cubicBezTo>
                  <a:pt x="0" y="145643"/>
                  <a:pt x="9932" y="155575"/>
                  <a:pt x="22225" y="155575"/>
                </a:cubicBezTo>
                <a:lnTo>
                  <a:pt x="333375" y="155575"/>
                </a:lnTo>
                <a:cubicBezTo>
                  <a:pt x="345668" y="155575"/>
                  <a:pt x="355600" y="145643"/>
                  <a:pt x="355600" y="133350"/>
                </a:cubicBezTo>
                <a:lnTo>
                  <a:pt x="355600" y="111125"/>
                </a:lnTo>
                <a:cubicBezTo>
                  <a:pt x="355600" y="98832"/>
                  <a:pt x="345668" y="88900"/>
                  <a:pt x="333375" y="88900"/>
                </a:cubicBezTo>
                <a:lnTo>
                  <a:pt x="304483" y="88900"/>
                </a:lnTo>
                <a:cubicBezTo>
                  <a:pt x="308719" y="80566"/>
                  <a:pt x="311150" y="71120"/>
                  <a:pt x="311150" y="61119"/>
                </a:cubicBezTo>
                <a:cubicBezTo>
                  <a:pt x="311150" y="27365"/>
                  <a:pt x="283785" y="0"/>
                  <a:pt x="250031" y="0"/>
                </a:cubicBezTo>
                <a:lnTo>
                  <a:pt x="248503" y="0"/>
                </a:lnTo>
                <a:cubicBezTo>
                  <a:pt x="226348" y="0"/>
                  <a:pt x="205790" y="11738"/>
                  <a:pt x="194538" y="30837"/>
                </a:cubicBezTo>
                <a:close/>
                <a:moveTo>
                  <a:pt x="333375" y="188913"/>
                </a:moveTo>
                <a:lnTo>
                  <a:pt x="194469" y="188913"/>
                </a:lnTo>
                <a:lnTo>
                  <a:pt x="194469" y="333375"/>
                </a:lnTo>
                <a:lnTo>
                  <a:pt x="288925" y="333375"/>
                </a:lnTo>
                <a:cubicBezTo>
                  <a:pt x="313442" y="333375"/>
                  <a:pt x="333375" y="313442"/>
                  <a:pt x="333375" y="288925"/>
                </a:cubicBezTo>
                <a:lnTo>
                  <a:pt x="333375" y="188913"/>
                </a:lnTo>
                <a:close/>
                <a:moveTo>
                  <a:pt x="161131" y="188913"/>
                </a:moveTo>
                <a:lnTo>
                  <a:pt x="22225" y="188913"/>
                </a:lnTo>
                <a:lnTo>
                  <a:pt x="22225" y="288925"/>
                </a:lnTo>
                <a:cubicBezTo>
                  <a:pt x="22225" y="313442"/>
                  <a:pt x="42158" y="333375"/>
                  <a:pt x="66675" y="333375"/>
                </a:cubicBezTo>
                <a:lnTo>
                  <a:pt x="161131" y="333375"/>
                </a:lnTo>
                <a:lnTo>
                  <a:pt x="161131" y="188913"/>
                </a:ln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32" name="Text 30"/>
          <p:cNvSpPr/>
          <p:nvPr/>
        </p:nvSpPr>
        <p:spPr>
          <a:xfrm>
            <a:off x="12763500" y="6413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Жадность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«Вы выиграли приз!»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7747000"/>
            <a:ext cx="14732000" cy="6985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9500" y="789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1587500" y="7810500"/>
            <a:ext cx="135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92400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Даже технически подкованные пользователи могут стать жертвами, особенно когда отвлечены или получают сообщение, которое кажется личным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E2E8F0">
              <a:alpha val="37647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4986000" y="8839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x5i7ycum6gnq/mnt/agents/output/cybersecurity/images/chapter2_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B2A4A">
              <a:alpha val="72157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016000" y="1778000"/>
            <a:ext cx="508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Защита персональных данных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16000" y="5207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CBD5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Практические методы защиты вашей цифровой идентичности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распознать фишинг — 7 признаков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97000" y="14986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Требование конфиденциальных данных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пароли, коды из СМС, ответы на секретные вопросы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2000" y="234950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34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7000" y="22606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Подозрительный адрес отправителя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@sberbank-support.net вместо @sberbank.ru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2000" y="311150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97000" y="30226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Непонятные ссылки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наведите курсор и проверьте, куда ведёт ссылка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2000" y="387350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873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97000" y="37846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Странные формулировки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несуществующие должности и термины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2000" y="463550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63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7000" y="45466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Искусственная срочность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«Аккаунт заблокируют через 24 часа!»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2000" y="539750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539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97000" y="53086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Предложения «халявы»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выигрыши автомобилей, миллионы рублей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62000" y="615950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615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7000" y="6070600"/>
            <a:ext cx="647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Визуальные несостыковки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неаккуратный дизайн, ошибки в вёрстке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382000" y="1524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6275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82000" y="1524000"/>
            <a:ext cx="7112000" cy="69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8699500" y="1676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9207500" y="1524000"/>
            <a:ext cx="596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Запомните правило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763000" y="2476500"/>
            <a:ext cx="6350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E860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Банки и госорганы НИКОГДА не запрашивают: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Пароли от аккаунтов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Коды из СМС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CVV/CVC коды карт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ПИН-коды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Данные паспорта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Получили подозрительное сообщение?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Позвоните в банк по номеру с официального сайта — не по номеру из сообщения!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E2E8F0">
              <a:alpha val="37647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0" y="8839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Пароли и двухфакторная аутентификация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Надёжный пароль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95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286000"/>
            <a:ext cx="584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Минимум </a:t>
            </a:r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символов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разными регистрами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79500" y="285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794000"/>
            <a:ext cx="584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Используйте </a:t>
            </a:r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уникальный пароль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каждого сайта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79500" y="336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302000"/>
            <a:ext cx="584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Меняйте пароли </a:t>
            </a:r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 в 42 дня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9500" y="387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3810000"/>
            <a:ext cx="584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Используйте </a:t>
            </a:r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менеджер паролей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хранения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79500" y="438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819" y="41731"/>
                </a:moveTo>
                <a:cubicBezTo>
                  <a:pt x="305548" y="47923"/>
                  <a:pt x="307726" y="59829"/>
                  <a:pt x="300650" y="68342"/>
                </a:cubicBezTo>
                <a:lnTo>
                  <a:pt x="126478" y="277892"/>
                </a:lnTo>
                <a:cubicBezTo>
                  <a:pt x="122736" y="282416"/>
                  <a:pt x="116953" y="285214"/>
                  <a:pt x="110558" y="285690"/>
                </a:cubicBezTo>
                <a:cubicBezTo>
                  <a:pt x="104163" y="286167"/>
                  <a:pt x="97971" y="284083"/>
                  <a:pt x="93481" y="280154"/>
                </a:cubicBezTo>
                <a:lnTo>
                  <a:pt x="6395" y="203954"/>
                </a:lnTo>
                <a:cubicBezTo>
                  <a:pt x="-2109" y="196513"/>
                  <a:pt x="-2109" y="184428"/>
                  <a:pt x="6395" y="176986"/>
                </a:cubicBezTo>
                <a:cubicBezTo>
                  <a:pt x="14900" y="169545"/>
                  <a:pt x="28711" y="169545"/>
                  <a:pt x="37216" y="176986"/>
                </a:cubicBezTo>
                <a:lnTo>
                  <a:pt x="106272" y="237411"/>
                </a:lnTo>
                <a:lnTo>
                  <a:pt x="265475" y="45899"/>
                </a:lnTo>
                <a:cubicBezTo>
                  <a:pt x="272551" y="37386"/>
                  <a:pt x="286158" y="35481"/>
                  <a:pt x="295887" y="416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4318000"/>
            <a:ext cx="584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используйте </a:t>
            </a:r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личные данные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 паролях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79500" y="4889500"/>
            <a:ext cx="6223000" cy="4445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270000" y="4978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13115" y="209550"/>
                </a:moveTo>
                <a:cubicBezTo>
                  <a:pt x="218427" y="197381"/>
                  <a:pt x="229050" y="186358"/>
                  <a:pt x="241055" y="176862"/>
                </a:cubicBezTo>
                <a:cubicBezTo>
                  <a:pt x="264848" y="158090"/>
                  <a:pt x="279400" y="132715"/>
                  <a:pt x="279400" y="104775"/>
                </a:cubicBezTo>
                <a:cubicBezTo>
                  <a:pt x="279400" y="46930"/>
                  <a:pt x="216826" y="0"/>
                  <a:pt x="139700" y="0"/>
                </a:cubicBezTo>
                <a:cubicBezTo>
                  <a:pt x="62574" y="0"/>
                  <a:pt x="0" y="46930"/>
                  <a:pt x="0" y="104775"/>
                </a:cubicBezTo>
                <a:cubicBezTo>
                  <a:pt x="0" y="132715"/>
                  <a:pt x="14552" y="158090"/>
                  <a:pt x="38345" y="176862"/>
                </a:cubicBezTo>
                <a:cubicBezTo>
                  <a:pt x="50350" y="186358"/>
                  <a:pt x="61046" y="197381"/>
                  <a:pt x="66285" y="209550"/>
                </a:cubicBezTo>
                <a:lnTo>
                  <a:pt x="213042" y="209550"/>
                </a:lnTo>
                <a:close/>
                <a:moveTo>
                  <a:pt x="209550" y="235744"/>
                </a:moveTo>
                <a:lnTo>
                  <a:pt x="69850" y="235744"/>
                </a:lnTo>
                <a:lnTo>
                  <a:pt x="69850" y="244475"/>
                </a:lnTo>
                <a:cubicBezTo>
                  <a:pt x="69850" y="268595"/>
                  <a:pt x="95898" y="288131"/>
                  <a:pt x="128058" y="288131"/>
                </a:cubicBezTo>
                <a:lnTo>
                  <a:pt x="151342" y="288131"/>
                </a:lnTo>
                <a:cubicBezTo>
                  <a:pt x="183502" y="288131"/>
                  <a:pt x="209550" y="268595"/>
                  <a:pt x="209550" y="244475"/>
                </a:cubicBezTo>
                <a:lnTo>
                  <a:pt x="209550" y="235744"/>
                </a:lnTo>
                <a:close/>
                <a:moveTo>
                  <a:pt x="133879" y="61119"/>
                </a:moveTo>
                <a:cubicBezTo>
                  <a:pt x="104921" y="61119"/>
                  <a:pt x="81492" y="78690"/>
                  <a:pt x="81492" y="100409"/>
                </a:cubicBezTo>
                <a:cubicBezTo>
                  <a:pt x="81492" y="107667"/>
                  <a:pt x="73706" y="113506"/>
                  <a:pt x="64029" y="113506"/>
                </a:cubicBezTo>
                <a:cubicBezTo>
                  <a:pt x="54352" y="113506"/>
                  <a:pt x="46567" y="107667"/>
                  <a:pt x="46567" y="100409"/>
                </a:cubicBezTo>
                <a:cubicBezTo>
                  <a:pt x="46567" y="64229"/>
                  <a:pt x="85639" y="34925"/>
                  <a:pt x="133879" y="34925"/>
                </a:cubicBezTo>
                <a:cubicBezTo>
                  <a:pt x="143556" y="34925"/>
                  <a:pt x="151342" y="40764"/>
                  <a:pt x="151342" y="48022"/>
                </a:cubicBezTo>
                <a:cubicBezTo>
                  <a:pt x="151342" y="55280"/>
                  <a:pt x="143556" y="61119"/>
                  <a:pt x="133879" y="6111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4889500"/>
            <a:ext cx="546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065F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Пример: K9#mP$vL2qR! (используйте фразу)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82000" y="1524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Двухфакторная аутентификация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382000" y="2095500"/>
            <a:ext cx="7112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3137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63000" y="2349500"/>
            <a:ext cx="6350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2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2FA — второй уровень защиты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после пароля. Даже если пароль украден, без второго фактора злоумышленник не войдёт.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Типы 2FA (от надёжности):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Приложения-аутентификаторы (Google Authenticator)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Биометрия (отпечаток, лицо)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860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Код из SMS (менее надёжно)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615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22250" y="158750"/>
                </a:moveTo>
                <a:cubicBezTo>
                  <a:pt x="222250" y="141227"/>
                  <a:pt x="236477" y="127000"/>
                  <a:pt x="254000" y="127000"/>
                </a:cubicBezTo>
                <a:cubicBezTo>
                  <a:pt x="271523" y="127000"/>
                  <a:pt x="285750" y="141227"/>
                  <a:pt x="285750" y="158750"/>
                </a:cubicBezTo>
                <a:cubicBezTo>
                  <a:pt x="285750" y="176273"/>
                  <a:pt x="271523" y="190500"/>
                  <a:pt x="254000" y="190500"/>
                </a:cubicBezTo>
                <a:cubicBezTo>
                  <a:pt x="236477" y="190500"/>
                  <a:pt x="222250" y="176273"/>
                  <a:pt x="222250" y="158750"/>
                </a:cubicBezTo>
                <a:close/>
                <a:moveTo>
                  <a:pt x="214313" y="222250"/>
                </a:moveTo>
                <a:lnTo>
                  <a:pt x="261937" y="222250"/>
                </a:lnTo>
                <a:cubicBezTo>
                  <a:pt x="275134" y="222250"/>
                  <a:pt x="285750" y="232866"/>
                  <a:pt x="285750" y="246063"/>
                </a:cubicBezTo>
                <a:lnTo>
                  <a:pt x="285750" y="333375"/>
                </a:lnTo>
                <a:lnTo>
                  <a:pt x="293688" y="333375"/>
                </a:lnTo>
                <a:cubicBezTo>
                  <a:pt x="306884" y="333375"/>
                  <a:pt x="317500" y="343991"/>
                  <a:pt x="317500" y="357188"/>
                </a:cubicBezTo>
                <a:cubicBezTo>
                  <a:pt x="317500" y="370384"/>
                  <a:pt x="306884" y="381000"/>
                  <a:pt x="293688" y="381000"/>
                </a:cubicBezTo>
                <a:lnTo>
                  <a:pt x="214313" y="381000"/>
                </a:lnTo>
                <a:cubicBezTo>
                  <a:pt x="201116" y="381000"/>
                  <a:pt x="190500" y="370384"/>
                  <a:pt x="190500" y="357188"/>
                </a:cubicBezTo>
                <a:cubicBezTo>
                  <a:pt x="190500" y="343991"/>
                  <a:pt x="201116" y="333375"/>
                  <a:pt x="214313" y="333375"/>
                </a:cubicBezTo>
                <a:lnTo>
                  <a:pt x="238125" y="333375"/>
                </a:lnTo>
                <a:lnTo>
                  <a:pt x="238125" y="269875"/>
                </a:lnTo>
                <a:lnTo>
                  <a:pt x="214313" y="269875"/>
                </a:lnTo>
                <a:cubicBezTo>
                  <a:pt x="201116" y="269875"/>
                  <a:pt x="190500" y="259259"/>
                  <a:pt x="190500" y="246063"/>
                </a:cubicBezTo>
                <a:cubicBezTo>
                  <a:pt x="190500" y="232866"/>
                  <a:pt x="201116" y="222250"/>
                  <a:pt x="214313" y="222250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24" name="Text 22"/>
          <p:cNvSpPr/>
          <p:nvPr/>
        </p:nvSpPr>
        <p:spPr>
          <a:xfrm>
            <a:off x="1905000" y="5969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Где включить 2FA обязательно: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банковские приложения, электронная почта, социальные сети, Госуслуги, облачные хранилища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E2E8F0">
              <a:alpha val="37647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0" y="8839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x5i7ycum6gnq/mnt/agents/output/cybersecurity/images/chapter3_fi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B2A4A">
              <a:alpha val="72157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016000" y="1778000"/>
            <a:ext cx="508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Защита финансов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16000" y="5207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CBD5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Как обезопасить деньги и онлайн-платежи от мошенников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Безопасность онлайн-платежей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Проверяйте HTTPS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9500" y="2794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Только сайты с https:// и замком в адресной строке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544" y="-22235"/>
                </a:moveTo>
                <a:cubicBezTo>
                  <a:pt x="25083" y="-30629"/>
                  <a:pt x="13017" y="-30629"/>
                  <a:pt x="5636" y="-22235"/>
                </a:cubicBezTo>
                <a:cubicBezTo>
                  <a:pt x="-1746" y="-13841"/>
                  <a:pt x="-1826" y="-268"/>
                  <a:pt x="5556" y="8126"/>
                </a:cubicBezTo>
                <a:lnTo>
                  <a:pt x="424656" y="479614"/>
                </a:lnTo>
                <a:cubicBezTo>
                  <a:pt x="432118" y="488007"/>
                  <a:pt x="444183" y="488007"/>
                  <a:pt x="451564" y="479614"/>
                </a:cubicBezTo>
                <a:cubicBezTo>
                  <a:pt x="458946" y="471220"/>
                  <a:pt x="459026" y="457646"/>
                  <a:pt x="451564" y="449342"/>
                </a:cubicBezTo>
                <a:lnTo>
                  <a:pt x="354727" y="340400"/>
                </a:lnTo>
                <a:cubicBezTo>
                  <a:pt x="358061" y="337364"/>
                  <a:pt x="361315" y="334060"/>
                  <a:pt x="364331" y="330666"/>
                </a:cubicBezTo>
                <a:lnTo>
                  <a:pt x="420767" y="267176"/>
                </a:lnTo>
                <a:cubicBezTo>
                  <a:pt x="444024" y="241012"/>
                  <a:pt x="457121" y="205472"/>
                  <a:pt x="457121" y="168414"/>
                </a:cubicBezTo>
                <a:cubicBezTo>
                  <a:pt x="457121" y="91261"/>
                  <a:pt x="401558" y="28664"/>
                  <a:pt x="332899" y="28664"/>
                </a:cubicBezTo>
                <a:cubicBezTo>
                  <a:pt x="303292" y="28664"/>
                  <a:pt x="274876" y="40541"/>
                  <a:pt x="252492" y="61883"/>
                </a:cubicBezTo>
                <a:cubicBezTo>
                  <a:pt x="268605" y="70902"/>
                  <a:pt x="283210" y="82868"/>
                  <a:pt x="295751" y="97155"/>
                </a:cubicBezTo>
                <a:cubicBezTo>
                  <a:pt x="306943" y="89743"/>
                  <a:pt x="319723" y="85814"/>
                  <a:pt x="332899" y="85814"/>
                </a:cubicBezTo>
                <a:cubicBezTo>
                  <a:pt x="373459" y="85814"/>
                  <a:pt x="406321" y="122783"/>
                  <a:pt x="406321" y="168414"/>
                </a:cubicBezTo>
                <a:cubicBezTo>
                  <a:pt x="406321" y="190292"/>
                  <a:pt x="398621" y="211276"/>
                  <a:pt x="384810" y="226814"/>
                </a:cubicBezTo>
                <a:lnTo>
                  <a:pt x="328374" y="290304"/>
                </a:lnTo>
                <a:cubicBezTo>
                  <a:pt x="325279" y="293787"/>
                  <a:pt x="321945" y="296912"/>
                  <a:pt x="318373" y="299680"/>
                </a:cubicBezTo>
                <a:lnTo>
                  <a:pt x="280670" y="257264"/>
                </a:lnTo>
                <a:cubicBezTo>
                  <a:pt x="293767" y="256461"/>
                  <a:pt x="304244" y="244406"/>
                  <a:pt x="304641" y="229493"/>
                </a:cubicBezTo>
                <a:cubicBezTo>
                  <a:pt x="304641" y="228332"/>
                  <a:pt x="304641" y="227171"/>
                  <a:pt x="304641" y="226010"/>
                </a:cubicBezTo>
                <a:cubicBezTo>
                  <a:pt x="304641" y="148947"/>
                  <a:pt x="249158" y="85904"/>
                  <a:pt x="180419" y="85904"/>
                </a:cubicBezTo>
                <a:cubicBezTo>
                  <a:pt x="165179" y="85904"/>
                  <a:pt x="150336" y="89029"/>
                  <a:pt x="136366" y="95012"/>
                </a:cubicBezTo>
                <a:lnTo>
                  <a:pt x="32544" y="-22235"/>
                </a:lnTo>
                <a:close/>
                <a:moveTo>
                  <a:pt x="179308" y="142875"/>
                </a:moveTo>
                <a:cubicBezTo>
                  <a:pt x="179784" y="142875"/>
                  <a:pt x="180181" y="142875"/>
                  <a:pt x="180658" y="142875"/>
                </a:cubicBezTo>
                <a:cubicBezTo>
                  <a:pt x="192643" y="142875"/>
                  <a:pt x="204073" y="146179"/>
                  <a:pt x="214074" y="151983"/>
                </a:cubicBezTo>
                <a:cubicBezTo>
                  <a:pt x="215503" y="153055"/>
                  <a:pt x="216932" y="154037"/>
                  <a:pt x="218440" y="154751"/>
                </a:cubicBezTo>
                <a:cubicBezTo>
                  <a:pt x="239713" y="169307"/>
                  <a:pt x="254000" y="195739"/>
                  <a:pt x="254000" y="225832"/>
                </a:cubicBezTo>
                <a:cubicBezTo>
                  <a:pt x="254000" y="226189"/>
                  <a:pt x="254000" y="226546"/>
                  <a:pt x="254000" y="226903"/>
                </a:cubicBezTo>
                <a:lnTo>
                  <a:pt x="179308" y="142875"/>
                </a:lnTo>
                <a:close/>
                <a:moveTo>
                  <a:pt x="274796" y="371475"/>
                </a:moveTo>
                <a:lnTo>
                  <a:pt x="152400" y="233779"/>
                </a:lnTo>
                <a:cubicBezTo>
                  <a:pt x="153353" y="309324"/>
                  <a:pt x="207645" y="370314"/>
                  <a:pt x="274717" y="371386"/>
                </a:cubicBezTo>
                <a:close/>
                <a:moveTo>
                  <a:pt x="110887" y="187077"/>
                </a:moveTo>
                <a:lnTo>
                  <a:pt x="74930" y="146625"/>
                </a:lnTo>
                <a:lnTo>
                  <a:pt x="36354" y="190024"/>
                </a:lnTo>
                <a:cubicBezTo>
                  <a:pt x="13097" y="216188"/>
                  <a:pt x="0" y="251728"/>
                  <a:pt x="0" y="288786"/>
                </a:cubicBezTo>
                <a:cubicBezTo>
                  <a:pt x="0" y="365939"/>
                  <a:pt x="55563" y="428536"/>
                  <a:pt x="124222" y="428536"/>
                </a:cubicBezTo>
                <a:cubicBezTo>
                  <a:pt x="153749" y="428536"/>
                  <a:pt x="182245" y="416659"/>
                  <a:pt x="204629" y="395317"/>
                </a:cubicBezTo>
                <a:cubicBezTo>
                  <a:pt x="188516" y="386298"/>
                  <a:pt x="173831" y="374333"/>
                  <a:pt x="161290" y="360045"/>
                </a:cubicBezTo>
                <a:cubicBezTo>
                  <a:pt x="150178" y="367367"/>
                  <a:pt x="137398" y="371296"/>
                  <a:pt x="124222" y="371296"/>
                </a:cubicBezTo>
                <a:cubicBezTo>
                  <a:pt x="83661" y="371296"/>
                  <a:pt x="50800" y="334328"/>
                  <a:pt x="50800" y="288697"/>
                </a:cubicBezTo>
                <a:cubicBezTo>
                  <a:pt x="50800" y="266819"/>
                  <a:pt x="58499" y="245834"/>
                  <a:pt x="72311" y="230297"/>
                </a:cubicBezTo>
                <a:lnTo>
                  <a:pt x="110887" y="18689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 переходите по ссылкам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0" y="2794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Вводите адрес банка вручную, не кликайте в письмах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12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114300"/>
                </a:moveTo>
                <a:lnTo>
                  <a:pt x="0" y="142875"/>
                </a:lnTo>
                <a:lnTo>
                  <a:pt x="457200" y="142875"/>
                </a:lnTo>
                <a:lnTo>
                  <a:pt x="457200" y="114300"/>
                </a:lnTo>
                <a:cubicBezTo>
                  <a:pt x="457200" y="82778"/>
                  <a:pt x="431572" y="57150"/>
                  <a:pt x="400050" y="57150"/>
                </a:cubicBezTo>
                <a:lnTo>
                  <a:pt x="57150" y="57150"/>
                </a:lnTo>
                <a:cubicBezTo>
                  <a:pt x="25628" y="57150"/>
                  <a:pt x="0" y="82778"/>
                  <a:pt x="0" y="114300"/>
                </a:cubicBezTo>
                <a:close/>
                <a:moveTo>
                  <a:pt x="0" y="185738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85738"/>
                </a:lnTo>
                <a:lnTo>
                  <a:pt x="0" y="185738"/>
                </a:lnTo>
                <a:close/>
                <a:moveTo>
                  <a:pt x="57150" y="321469"/>
                </a:moveTo>
                <a:cubicBezTo>
                  <a:pt x="57150" y="309592"/>
                  <a:pt x="66705" y="300038"/>
                  <a:pt x="78581" y="300038"/>
                </a:cubicBezTo>
                <a:lnTo>
                  <a:pt x="121444" y="300038"/>
                </a:lnTo>
                <a:cubicBezTo>
                  <a:pt x="133320" y="300038"/>
                  <a:pt x="142875" y="309592"/>
                  <a:pt x="142875" y="321469"/>
                </a:cubicBezTo>
                <a:cubicBezTo>
                  <a:pt x="142875" y="333345"/>
                  <a:pt x="133320" y="342900"/>
                  <a:pt x="121444" y="342900"/>
                </a:cubicBezTo>
                <a:lnTo>
                  <a:pt x="78581" y="342900"/>
                </a:lnTo>
                <a:cubicBezTo>
                  <a:pt x="66705" y="342900"/>
                  <a:pt x="57150" y="333345"/>
                  <a:pt x="57150" y="321469"/>
                </a:cubicBezTo>
                <a:close/>
                <a:moveTo>
                  <a:pt x="185738" y="321469"/>
                </a:moveTo>
                <a:cubicBezTo>
                  <a:pt x="185738" y="309592"/>
                  <a:pt x="195292" y="300038"/>
                  <a:pt x="207169" y="300038"/>
                </a:cubicBezTo>
                <a:lnTo>
                  <a:pt x="264319" y="300038"/>
                </a:lnTo>
                <a:cubicBezTo>
                  <a:pt x="276195" y="300038"/>
                  <a:pt x="285750" y="309592"/>
                  <a:pt x="285750" y="321469"/>
                </a:cubicBezTo>
                <a:cubicBezTo>
                  <a:pt x="285750" y="333345"/>
                  <a:pt x="276195" y="342900"/>
                  <a:pt x="264319" y="342900"/>
                </a:cubicBezTo>
                <a:lnTo>
                  <a:pt x="207169" y="342900"/>
                </a:lnTo>
                <a:cubicBezTo>
                  <a:pt x="195292" y="342900"/>
                  <a:pt x="185738" y="333345"/>
                  <a:pt x="185738" y="32146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Отдельная карта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12500" y="2794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Специальная карта для онлайн-покупок с лимитом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810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95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85725"/>
                </a:moveTo>
                <a:cubicBezTo>
                  <a:pt x="156448" y="85725"/>
                  <a:pt x="91123" y="117872"/>
                  <a:pt x="43101" y="170200"/>
                </a:cubicBezTo>
                <a:cubicBezTo>
                  <a:pt x="33020" y="181183"/>
                  <a:pt x="16907" y="180915"/>
                  <a:pt x="7223" y="169575"/>
                </a:cubicBezTo>
                <a:cubicBezTo>
                  <a:pt x="-2461" y="158234"/>
                  <a:pt x="-2302" y="140107"/>
                  <a:pt x="7779" y="129213"/>
                </a:cubicBezTo>
                <a:cubicBezTo>
                  <a:pt x="64849" y="66883"/>
                  <a:pt x="142796" y="28575"/>
                  <a:pt x="228600" y="28575"/>
                </a:cubicBezTo>
                <a:cubicBezTo>
                  <a:pt x="314404" y="28575"/>
                  <a:pt x="392351" y="66883"/>
                  <a:pt x="449501" y="129213"/>
                </a:cubicBezTo>
                <a:cubicBezTo>
                  <a:pt x="459581" y="140196"/>
                  <a:pt x="459819" y="158323"/>
                  <a:pt x="450056" y="169575"/>
                </a:cubicBezTo>
                <a:cubicBezTo>
                  <a:pt x="440293" y="180826"/>
                  <a:pt x="424180" y="181183"/>
                  <a:pt x="414179" y="170200"/>
                </a:cubicBezTo>
                <a:cubicBezTo>
                  <a:pt x="366077" y="117872"/>
                  <a:pt x="300752" y="85725"/>
                  <a:pt x="228600" y="85725"/>
                </a:cubicBezTo>
                <a:close/>
                <a:moveTo>
                  <a:pt x="190500" y="385763"/>
                </a:moveTo>
                <a:cubicBezTo>
                  <a:pt x="190500" y="362106"/>
                  <a:pt x="207572" y="342900"/>
                  <a:pt x="228600" y="342900"/>
                </a:cubicBezTo>
                <a:cubicBezTo>
                  <a:pt x="249628" y="342900"/>
                  <a:pt x="266700" y="362106"/>
                  <a:pt x="266700" y="385763"/>
                </a:cubicBezTo>
                <a:cubicBezTo>
                  <a:pt x="266700" y="409419"/>
                  <a:pt x="249628" y="428625"/>
                  <a:pt x="228600" y="428625"/>
                </a:cubicBezTo>
                <a:cubicBezTo>
                  <a:pt x="207572" y="428625"/>
                  <a:pt x="190500" y="409419"/>
                  <a:pt x="190500" y="385763"/>
                </a:cubicBezTo>
                <a:close/>
                <a:moveTo>
                  <a:pt x="133350" y="291286"/>
                </a:moveTo>
                <a:cubicBezTo>
                  <a:pt x="124063" y="303163"/>
                  <a:pt x="108029" y="304234"/>
                  <a:pt x="97473" y="293787"/>
                </a:cubicBezTo>
                <a:cubicBezTo>
                  <a:pt x="86916" y="283339"/>
                  <a:pt x="85963" y="265301"/>
                  <a:pt x="95250" y="253425"/>
                </a:cubicBezTo>
                <a:cubicBezTo>
                  <a:pt x="127794" y="211991"/>
                  <a:pt x="175498" y="185738"/>
                  <a:pt x="228600" y="185738"/>
                </a:cubicBezTo>
                <a:cubicBezTo>
                  <a:pt x="281702" y="185738"/>
                  <a:pt x="329406" y="211991"/>
                  <a:pt x="361950" y="253425"/>
                </a:cubicBezTo>
                <a:cubicBezTo>
                  <a:pt x="371237" y="265301"/>
                  <a:pt x="370205" y="283339"/>
                  <a:pt x="359728" y="293787"/>
                </a:cubicBezTo>
                <a:cubicBezTo>
                  <a:pt x="349250" y="304234"/>
                  <a:pt x="333137" y="303074"/>
                  <a:pt x="323850" y="291286"/>
                </a:cubicBezTo>
                <a:cubicBezTo>
                  <a:pt x="300514" y="261551"/>
                  <a:pt x="266541" y="242888"/>
                  <a:pt x="228600" y="242888"/>
                </a:cubicBezTo>
                <a:cubicBezTo>
                  <a:pt x="190659" y="242888"/>
                  <a:pt x="156686" y="261551"/>
                  <a:pt x="133350" y="291286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4635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Опасность公共 Wi-Fi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9500" y="5016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используйте公共 Wi-Fi для банковских операций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78500" y="3810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960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154751"/>
                </a:lnTo>
                <a:cubicBezTo>
                  <a:pt x="457200" y="139571"/>
                  <a:pt x="450362" y="125016"/>
                  <a:pt x="438116" y="114300"/>
                </a:cubicBezTo>
                <a:lnTo>
                  <a:pt x="359229" y="45274"/>
                </a:lnTo>
                <a:cubicBezTo>
                  <a:pt x="346982" y="34558"/>
                  <a:pt x="330347" y="28575"/>
                  <a:pt x="312998" y="28575"/>
                </a:cubicBezTo>
                <a:lnTo>
                  <a:pt x="65314" y="28575"/>
                </a:lnTo>
                <a:close/>
                <a:moveTo>
                  <a:pt x="97971" y="114300"/>
                </a:moveTo>
                <a:cubicBezTo>
                  <a:pt x="97971" y="98494"/>
                  <a:pt x="112565" y="85725"/>
                  <a:pt x="130629" y="85725"/>
                </a:cubicBezTo>
                <a:lnTo>
                  <a:pt x="293914" y="85725"/>
                </a:lnTo>
                <a:cubicBezTo>
                  <a:pt x="311978" y="85725"/>
                  <a:pt x="326571" y="98494"/>
                  <a:pt x="326571" y="114300"/>
                </a:cubicBezTo>
                <a:lnTo>
                  <a:pt x="326571" y="171450"/>
                </a:lnTo>
                <a:cubicBezTo>
                  <a:pt x="326571" y="187256"/>
                  <a:pt x="311978" y="200025"/>
                  <a:pt x="293914" y="200025"/>
                </a:cubicBezTo>
                <a:lnTo>
                  <a:pt x="130629" y="200025"/>
                </a:lnTo>
                <a:cubicBezTo>
                  <a:pt x="112565" y="200025"/>
                  <a:pt x="97971" y="187256"/>
                  <a:pt x="97971" y="171450"/>
                </a:cubicBezTo>
                <a:lnTo>
                  <a:pt x="97971" y="114300"/>
                </a:lnTo>
                <a:close/>
                <a:moveTo>
                  <a:pt x="228600" y="257175"/>
                </a:moveTo>
                <a:cubicBezTo>
                  <a:pt x="264648" y="257175"/>
                  <a:pt x="293914" y="282783"/>
                  <a:pt x="293914" y="314325"/>
                </a:cubicBezTo>
                <a:cubicBezTo>
                  <a:pt x="293914" y="345867"/>
                  <a:pt x="264648" y="371475"/>
                  <a:pt x="228600" y="371475"/>
                </a:cubicBezTo>
                <a:cubicBezTo>
                  <a:pt x="192552" y="371475"/>
                  <a:pt x="163286" y="345867"/>
                  <a:pt x="163286" y="314325"/>
                </a:cubicBezTo>
                <a:cubicBezTo>
                  <a:pt x="163286" y="282783"/>
                  <a:pt x="192552" y="257175"/>
                  <a:pt x="228600" y="257175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4635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 сохраняйте данные карты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96000" y="5016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храните данные карты в браузерах и на сайтах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795000" y="3810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1125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9865" y="-7144"/>
                </a:moveTo>
                <a:cubicBezTo>
                  <a:pt x="185023" y="-12680"/>
                  <a:pt x="177959" y="-14913"/>
                  <a:pt x="171291" y="-12859"/>
                </a:cubicBezTo>
                <a:cubicBezTo>
                  <a:pt x="164624" y="-10805"/>
                  <a:pt x="159464" y="-5001"/>
                  <a:pt x="157798" y="2500"/>
                </a:cubicBezTo>
                <a:lnTo>
                  <a:pt x="145653" y="56257"/>
                </a:lnTo>
                <a:cubicBezTo>
                  <a:pt x="144780" y="60186"/>
                  <a:pt x="141208" y="62508"/>
                  <a:pt x="137795" y="61347"/>
                </a:cubicBezTo>
                <a:lnTo>
                  <a:pt x="90329" y="46345"/>
                </a:lnTo>
                <a:cubicBezTo>
                  <a:pt x="83661" y="44202"/>
                  <a:pt x="76518" y="46345"/>
                  <a:pt x="71676" y="51792"/>
                </a:cubicBezTo>
                <a:cubicBezTo>
                  <a:pt x="66834" y="57239"/>
                  <a:pt x="64929" y="65276"/>
                  <a:pt x="66834" y="72777"/>
                </a:cubicBezTo>
                <a:lnTo>
                  <a:pt x="80248" y="126176"/>
                </a:lnTo>
                <a:cubicBezTo>
                  <a:pt x="81201" y="130016"/>
                  <a:pt x="79137" y="134035"/>
                  <a:pt x="75724" y="135017"/>
                </a:cubicBezTo>
                <a:lnTo>
                  <a:pt x="27861" y="148679"/>
                </a:lnTo>
                <a:cubicBezTo>
                  <a:pt x="21193" y="150555"/>
                  <a:pt x="15954" y="156448"/>
                  <a:pt x="14129" y="163949"/>
                </a:cubicBezTo>
                <a:cubicBezTo>
                  <a:pt x="12303" y="171450"/>
                  <a:pt x="14288" y="179397"/>
                  <a:pt x="19209" y="184845"/>
                </a:cubicBezTo>
                <a:lnTo>
                  <a:pt x="54531" y="223510"/>
                </a:lnTo>
                <a:cubicBezTo>
                  <a:pt x="57071" y="226278"/>
                  <a:pt x="57071" y="230922"/>
                  <a:pt x="54531" y="233779"/>
                </a:cubicBezTo>
                <a:lnTo>
                  <a:pt x="19288" y="272445"/>
                </a:lnTo>
                <a:cubicBezTo>
                  <a:pt x="14367" y="277892"/>
                  <a:pt x="12383" y="285839"/>
                  <a:pt x="14208" y="293340"/>
                </a:cubicBezTo>
                <a:cubicBezTo>
                  <a:pt x="16034" y="300841"/>
                  <a:pt x="21272" y="306645"/>
                  <a:pt x="27940" y="308610"/>
                </a:cubicBezTo>
                <a:lnTo>
                  <a:pt x="75724" y="322272"/>
                </a:lnTo>
                <a:cubicBezTo>
                  <a:pt x="79216" y="323255"/>
                  <a:pt x="81280" y="327273"/>
                  <a:pt x="80248" y="331113"/>
                </a:cubicBezTo>
                <a:lnTo>
                  <a:pt x="66834" y="384423"/>
                </a:lnTo>
                <a:cubicBezTo>
                  <a:pt x="64929" y="391924"/>
                  <a:pt x="66834" y="399961"/>
                  <a:pt x="71676" y="405408"/>
                </a:cubicBezTo>
                <a:cubicBezTo>
                  <a:pt x="76518" y="410855"/>
                  <a:pt x="83661" y="412998"/>
                  <a:pt x="90329" y="410855"/>
                </a:cubicBezTo>
                <a:lnTo>
                  <a:pt x="137795" y="395764"/>
                </a:lnTo>
                <a:cubicBezTo>
                  <a:pt x="141208" y="394692"/>
                  <a:pt x="144780" y="397014"/>
                  <a:pt x="145653" y="400854"/>
                </a:cubicBezTo>
                <a:lnTo>
                  <a:pt x="157798" y="454610"/>
                </a:lnTo>
                <a:cubicBezTo>
                  <a:pt x="159464" y="462111"/>
                  <a:pt x="164703" y="468005"/>
                  <a:pt x="171371" y="470059"/>
                </a:cubicBezTo>
                <a:cubicBezTo>
                  <a:pt x="178038" y="472113"/>
                  <a:pt x="185103" y="469880"/>
                  <a:pt x="189944" y="464344"/>
                </a:cubicBezTo>
                <a:lnTo>
                  <a:pt x="224314" y="424607"/>
                </a:lnTo>
                <a:cubicBezTo>
                  <a:pt x="226774" y="421749"/>
                  <a:pt x="230902" y="421749"/>
                  <a:pt x="233442" y="424607"/>
                </a:cubicBezTo>
                <a:lnTo>
                  <a:pt x="267732" y="464344"/>
                </a:lnTo>
                <a:cubicBezTo>
                  <a:pt x="272574" y="469880"/>
                  <a:pt x="279638" y="472113"/>
                  <a:pt x="286306" y="470059"/>
                </a:cubicBezTo>
                <a:cubicBezTo>
                  <a:pt x="292973" y="468005"/>
                  <a:pt x="298132" y="462111"/>
                  <a:pt x="299879" y="454610"/>
                </a:cubicBezTo>
                <a:lnTo>
                  <a:pt x="312023" y="400943"/>
                </a:lnTo>
                <a:cubicBezTo>
                  <a:pt x="312896" y="397014"/>
                  <a:pt x="316468" y="394692"/>
                  <a:pt x="319881" y="395853"/>
                </a:cubicBezTo>
                <a:lnTo>
                  <a:pt x="367348" y="410944"/>
                </a:lnTo>
                <a:cubicBezTo>
                  <a:pt x="374015" y="413087"/>
                  <a:pt x="381159" y="410944"/>
                  <a:pt x="386001" y="405497"/>
                </a:cubicBezTo>
                <a:cubicBezTo>
                  <a:pt x="390843" y="400050"/>
                  <a:pt x="392748" y="392013"/>
                  <a:pt x="390843" y="384512"/>
                </a:cubicBezTo>
                <a:lnTo>
                  <a:pt x="377428" y="331113"/>
                </a:lnTo>
                <a:cubicBezTo>
                  <a:pt x="376476" y="327273"/>
                  <a:pt x="378539" y="323255"/>
                  <a:pt x="381953" y="322272"/>
                </a:cubicBezTo>
                <a:lnTo>
                  <a:pt x="429736" y="308610"/>
                </a:lnTo>
                <a:cubicBezTo>
                  <a:pt x="436404" y="306735"/>
                  <a:pt x="441643" y="300841"/>
                  <a:pt x="443468" y="293340"/>
                </a:cubicBezTo>
                <a:cubicBezTo>
                  <a:pt x="445294" y="285839"/>
                  <a:pt x="443309" y="277803"/>
                  <a:pt x="438388" y="272445"/>
                </a:cubicBezTo>
                <a:lnTo>
                  <a:pt x="403066" y="233779"/>
                </a:lnTo>
                <a:cubicBezTo>
                  <a:pt x="400526" y="231011"/>
                  <a:pt x="400526" y="226368"/>
                  <a:pt x="403066" y="223510"/>
                </a:cubicBezTo>
                <a:lnTo>
                  <a:pt x="438388" y="184845"/>
                </a:lnTo>
                <a:cubicBezTo>
                  <a:pt x="443309" y="179397"/>
                  <a:pt x="445294" y="171450"/>
                  <a:pt x="443468" y="163949"/>
                </a:cubicBezTo>
                <a:cubicBezTo>
                  <a:pt x="441643" y="156448"/>
                  <a:pt x="436404" y="150644"/>
                  <a:pt x="429736" y="148679"/>
                </a:cubicBezTo>
                <a:lnTo>
                  <a:pt x="381953" y="135017"/>
                </a:lnTo>
                <a:cubicBezTo>
                  <a:pt x="378460" y="134035"/>
                  <a:pt x="376396" y="130016"/>
                  <a:pt x="377428" y="126176"/>
                </a:cubicBezTo>
                <a:lnTo>
                  <a:pt x="390843" y="72777"/>
                </a:lnTo>
                <a:cubicBezTo>
                  <a:pt x="392748" y="65276"/>
                  <a:pt x="390843" y="57239"/>
                  <a:pt x="386001" y="51792"/>
                </a:cubicBezTo>
                <a:cubicBezTo>
                  <a:pt x="381159" y="46345"/>
                  <a:pt x="374015" y="44202"/>
                  <a:pt x="367348" y="46345"/>
                </a:cubicBezTo>
                <a:lnTo>
                  <a:pt x="319881" y="61436"/>
                </a:lnTo>
                <a:cubicBezTo>
                  <a:pt x="316468" y="62508"/>
                  <a:pt x="312896" y="60186"/>
                  <a:pt x="312023" y="56346"/>
                </a:cubicBezTo>
                <a:lnTo>
                  <a:pt x="299879" y="2500"/>
                </a:lnTo>
                <a:cubicBezTo>
                  <a:pt x="298212" y="-5001"/>
                  <a:pt x="292973" y="-10894"/>
                  <a:pt x="286306" y="-12948"/>
                </a:cubicBezTo>
                <a:cubicBezTo>
                  <a:pt x="279638" y="-15002"/>
                  <a:pt x="272574" y="-12769"/>
                  <a:pt x="267732" y="-7233"/>
                </a:cubicBezTo>
                <a:lnTo>
                  <a:pt x="233362" y="32593"/>
                </a:lnTo>
                <a:cubicBezTo>
                  <a:pt x="230902" y="35451"/>
                  <a:pt x="226774" y="35451"/>
                  <a:pt x="224234" y="32593"/>
                </a:cubicBezTo>
                <a:lnTo>
                  <a:pt x="189865" y="-714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1112500" y="4635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Проверяйте SSL-сертификат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112500" y="5016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Нажмите на замок в адресной строке для проверки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6159500"/>
            <a:ext cx="14732000" cy="1143000"/>
          </a:xfrm>
          <a:prstGeom prst="roundRect">
            <a:avLst>
              <a:gd name="adj" fmla="val 8000"/>
            </a:avLst>
          </a:prstGeom>
          <a:solidFill>
            <a:srgbClr val="FEF2F0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647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21444"/>
                </a:moveTo>
                <a:cubicBezTo>
                  <a:pt x="240476" y="121444"/>
                  <a:pt x="250031" y="130999"/>
                  <a:pt x="250031" y="142875"/>
                </a:cubicBezTo>
                <a:lnTo>
                  <a:pt x="250031" y="242888"/>
                </a:lnTo>
                <a:cubicBezTo>
                  <a:pt x="250031" y="254764"/>
                  <a:pt x="240476" y="264319"/>
                  <a:pt x="228600" y="264319"/>
                </a:cubicBezTo>
                <a:cubicBezTo>
                  <a:pt x="216724" y="264319"/>
                  <a:pt x="207169" y="254764"/>
                  <a:pt x="207169" y="242888"/>
                </a:cubicBezTo>
                <a:lnTo>
                  <a:pt x="207169" y="142875"/>
                </a:lnTo>
                <a:cubicBezTo>
                  <a:pt x="207169" y="130999"/>
                  <a:pt x="216724" y="121444"/>
                  <a:pt x="228600" y="121444"/>
                </a:cubicBezTo>
                <a:close/>
                <a:moveTo>
                  <a:pt x="204758" y="314325"/>
                </a:moveTo>
                <a:cubicBezTo>
                  <a:pt x="204215" y="305475"/>
                  <a:pt x="208629" y="297055"/>
                  <a:pt x="216215" y="292466"/>
                </a:cubicBezTo>
                <a:cubicBezTo>
                  <a:pt x="223802" y="287877"/>
                  <a:pt x="233309" y="287877"/>
                  <a:pt x="240895" y="292466"/>
                </a:cubicBezTo>
                <a:cubicBezTo>
                  <a:pt x="248482" y="297055"/>
                  <a:pt x="252895" y="305475"/>
                  <a:pt x="252353" y="314325"/>
                </a:cubicBezTo>
                <a:cubicBezTo>
                  <a:pt x="252895" y="323175"/>
                  <a:pt x="248482" y="331595"/>
                  <a:pt x="240895" y="336184"/>
                </a:cubicBezTo>
                <a:cubicBezTo>
                  <a:pt x="233309" y="340773"/>
                  <a:pt x="223802" y="340773"/>
                  <a:pt x="216215" y="336184"/>
                </a:cubicBezTo>
                <a:cubicBezTo>
                  <a:pt x="208629" y="331595"/>
                  <a:pt x="204215" y="323175"/>
                  <a:pt x="204758" y="314325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30" name="Text 28"/>
          <p:cNvSpPr/>
          <p:nvPr/>
        </p:nvSpPr>
        <p:spPr>
          <a:xfrm>
            <a:off x="1841500" y="6286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Важно: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Если вам позвонили из «банка» и просят подтвердить операцию кодом из СМС —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это мошенники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Банк никогда не делает этого. Прервите разговор и позвоните в банк самостоятельно.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000" y="76200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Источник: рекомендации «Лаборатории Касперского»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E2E8F0">
              <a:alpha val="37647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986000" y="8839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Ваш чек-лист цифровой безопасности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50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делать обязательно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44793" y="147727"/>
                </a:moveTo>
                <a:lnTo>
                  <a:pt x="181293" y="236627"/>
                </a:lnTo>
                <a:cubicBezTo>
                  <a:pt x="177959" y="241280"/>
                  <a:pt x="172244" y="244197"/>
                  <a:pt x="165973" y="244475"/>
                </a:cubicBezTo>
                <a:cubicBezTo>
                  <a:pt x="159702" y="244753"/>
                  <a:pt x="153670" y="242253"/>
                  <a:pt x="149939" y="237808"/>
                </a:cubicBezTo>
                <a:lnTo>
                  <a:pt x="111839" y="193357"/>
                </a:lnTo>
                <a:cubicBezTo>
                  <a:pt x="105489" y="185995"/>
                  <a:pt x="107236" y="175577"/>
                  <a:pt x="115649" y="170021"/>
                </a:cubicBezTo>
                <a:cubicBezTo>
                  <a:pt x="124063" y="164465"/>
                  <a:pt x="135969" y="165993"/>
                  <a:pt x="142319" y="173355"/>
                </a:cubicBezTo>
                <a:lnTo>
                  <a:pt x="163751" y="198358"/>
                </a:lnTo>
                <a:lnTo>
                  <a:pt x="212487" y="130086"/>
                </a:lnTo>
                <a:cubicBezTo>
                  <a:pt x="218043" y="122307"/>
                  <a:pt x="229791" y="119876"/>
                  <a:pt x="238760" y="124807"/>
                </a:cubicBezTo>
                <a:cubicBezTo>
                  <a:pt x="247729" y="129738"/>
                  <a:pt x="250428" y="139948"/>
                  <a:pt x="244793" y="14779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159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Используйте </a:t>
            </a:r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сложные уникальные пароли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менеджер паролей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44793" y="147727"/>
                </a:moveTo>
                <a:lnTo>
                  <a:pt x="181293" y="236627"/>
                </a:lnTo>
                <a:cubicBezTo>
                  <a:pt x="177959" y="241280"/>
                  <a:pt x="172244" y="244197"/>
                  <a:pt x="165973" y="244475"/>
                </a:cubicBezTo>
                <a:cubicBezTo>
                  <a:pt x="159702" y="244753"/>
                  <a:pt x="153670" y="242253"/>
                  <a:pt x="149939" y="237808"/>
                </a:cubicBezTo>
                <a:lnTo>
                  <a:pt x="111839" y="193357"/>
                </a:lnTo>
                <a:cubicBezTo>
                  <a:pt x="105489" y="185995"/>
                  <a:pt x="107236" y="175577"/>
                  <a:pt x="115649" y="170021"/>
                </a:cubicBezTo>
                <a:cubicBezTo>
                  <a:pt x="124063" y="164465"/>
                  <a:pt x="135969" y="165993"/>
                  <a:pt x="142319" y="173355"/>
                </a:cubicBezTo>
                <a:lnTo>
                  <a:pt x="163751" y="198358"/>
                </a:lnTo>
                <a:lnTo>
                  <a:pt x="212487" y="130086"/>
                </a:lnTo>
                <a:cubicBezTo>
                  <a:pt x="218043" y="122307"/>
                  <a:pt x="229791" y="119876"/>
                  <a:pt x="238760" y="124807"/>
                </a:cubicBezTo>
                <a:cubicBezTo>
                  <a:pt x="247729" y="129738"/>
                  <a:pt x="250428" y="139948"/>
                  <a:pt x="244793" y="14779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2921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Включите </a:t>
            </a:r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2FA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на всех важных сервисах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2000" y="3683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44793" y="147727"/>
                </a:moveTo>
                <a:lnTo>
                  <a:pt x="181293" y="236627"/>
                </a:lnTo>
                <a:cubicBezTo>
                  <a:pt x="177959" y="241280"/>
                  <a:pt x="172244" y="244197"/>
                  <a:pt x="165973" y="244475"/>
                </a:cubicBezTo>
                <a:cubicBezTo>
                  <a:pt x="159702" y="244753"/>
                  <a:pt x="153670" y="242253"/>
                  <a:pt x="149939" y="237808"/>
                </a:cubicBezTo>
                <a:lnTo>
                  <a:pt x="111839" y="193357"/>
                </a:lnTo>
                <a:cubicBezTo>
                  <a:pt x="105489" y="185995"/>
                  <a:pt x="107236" y="175577"/>
                  <a:pt x="115649" y="170021"/>
                </a:cubicBezTo>
                <a:cubicBezTo>
                  <a:pt x="124063" y="164465"/>
                  <a:pt x="135969" y="165993"/>
                  <a:pt x="142319" y="173355"/>
                </a:cubicBezTo>
                <a:lnTo>
                  <a:pt x="163751" y="198358"/>
                </a:lnTo>
                <a:lnTo>
                  <a:pt x="212487" y="130086"/>
                </a:lnTo>
                <a:cubicBezTo>
                  <a:pt x="218043" y="122307"/>
                  <a:pt x="229791" y="119876"/>
                  <a:pt x="238760" y="124807"/>
                </a:cubicBezTo>
                <a:cubicBezTo>
                  <a:pt x="247729" y="129738"/>
                  <a:pt x="250428" y="139948"/>
                  <a:pt x="244793" y="14779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3683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Установите </a:t>
            </a:r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антивирус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регулярно обновляйте ПО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2000" y="4445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44793" y="147727"/>
                </a:moveTo>
                <a:lnTo>
                  <a:pt x="181293" y="236627"/>
                </a:lnTo>
                <a:cubicBezTo>
                  <a:pt x="177959" y="241280"/>
                  <a:pt x="172244" y="244197"/>
                  <a:pt x="165973" y="244475"/>
                </a:cubicBezTo>
                <a:cubicBezTo>
                  <a:pt x="159702" y="244753"/>
                  <a:pt x="153670" y="242253"/>
                  <a:pt x="149939" y="237808"/>
                </a:cubicBezTo>
                <a:lnTo>
                  <a:pt x="111839" y="193357"/>
                </a:lnTo>
                <a:cubicBezTo>
                  <a:pt x="105489" y="185995"/>
                  <a:pt x="107236" y="175577"/>
                  <a:pt x="115649" y="170021"/>
                </a:cubicBezTo>
                <a:cubicBezTo>
                  <a:pt x="124063" y="164465"/>
                  <a:pt x="135969" y="165993"/>
                  <a:pt x="142319" y="173355"/>
                </a:cubicBezTo>
                <a:lnTo>
                  <a:pt x="163751" y="198358"/>
                </a:lnTo>
                <a:lnTo>
                  <a:pt x="212487" y="130086"/>
                </a:lnTo>
                <a:cubicBezTo>
                  <a:pt x="218043" y="122307"/>
                  <a:pt x="229791" y="119876"/>
                  <a:pt x="238760" y="124807"/>
                </a:cubicBezTo>
                <a:cubicBezTo>
                  <a:pt x="247729" y="129738"/>
                  <a:pt x="250428" y="139948"/>
                  <a:pt x="244793" y="14779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4445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Создавайте </a:t>
            </a:r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резервные копии</a:t>
            </a:r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данных на внешний носитель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244793" y="147727"/>
                </a:moveTo>
                <a:lnTo>
                  <a:pt x="181293" y="236627"/>
                </a:lnTo>
                <a:cubicBezTo>
                  <a:pt x="177959" y="241280"/>
                  <a:pt x="172244" y="244197"/>
                  <a:pt x="165973" y="244475"/>
                </a:cubicBezTo>
                <a:cubicBezTo>
                  <a:pt x="159702" y="244753"/>
                  <a:pt x="153670" y="242253"/>
                  <a:pt x="149939" y="237808"/>
                </a:cubicBezTo>
                <a:lnTo>
                  <a:pt x="111839" y="193357"/>
                </a:lnTo>
                <a:cubicBezTo>
                  <a:pt x="105489" y="185995"/>
                  <a:pt x="107236" y="175577"/>
                  <a:pt x="115649" y="170021"/>
                </a:cubicBezTo>
                <a:cubicBezTo>
                  <a:pt x="124063" y="164465"/>
                  <a:pt x="135969" y="165993"/>
                  <a:pt x="142319" y="173355"/>
                </a:cubicBezTo>
                <a:lnTo>
                  <a:pt x="163751" y="198358"/>
                </a:lnTo>
                <a:lnTo>
                  <a:pt x="212487" y="130086"/>
                </a:lnTo>
                <a:cubicBezTo>
                  <a:pt x="218043" y="122307"/>
                  <a:pt x="229791" y="119876"/>
                  <a:pt x="238760" y="124807"/>
                </a:cubicBezTo>
                <a:cubicBezTo>
                  <a:pt x="247729" y="129738"/>
                  <a:pt x="250428" y="139948"/>
                  <a:pt x="244793" y="14779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5207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Будьте осторожны с </a:t>
            </a:r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вложениями и ссылками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82000" y="15240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60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Чего избегать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382000" y="2159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EF2F0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60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2159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публикуйте личные данные в открытом доступе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82000" y="2921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EF2F0"/>
          </a:solidFill>
          <a:ln/>
        </p:spPr>
      </p:sp>
      <p:sp>
        <p:nvSpPr>
          <p:cNvPr id="25" name="Shape 23"/>
          <p:cNvSpPr/>
          <p:nvPr/>
        </p:nvSpPr>
        <p:spPr>
          <a:xfrm>
            <a:off x="8636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2921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используйте одинаковые пароли на разных сайтах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82000" y="3683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EF2F0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6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3683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отключайте автосохранение паролей в браузере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382000" y="4445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EF2F0"/>
          </a:solidFill>
          <a:ln/>
        </p:spPr>
      </p:sp>
      <p:sp>
        <p:nvSpPr>
          <p:cNvPr id="31" name="Shape 29"/>
          <p:cNvSpPr/>
          <p:nvPr/>
        </p:nvSpPr>
        <p:spPr>
          <a:xfrm>
            <a:off x="8636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0" y="4445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переходите по ссылкам из подозрительных писем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382000" y="5207000"/>
            <a:ext cx="7112000" cy="609600"/>
          </a:xfrm>
          <a:prstGeom prst="roundRect">
            <a:avLst>
              <a:gd name="adj" fmla="val 6000"/>
            </a:avLst>
          </a:prstGeom>
          <a:solidFill>
            <a:srgbClr val="FEF2F0"/>
          </a:solidFill>
          <a:ln/>
        </p:spPr>
      </p:sp>
      <p:sp>
        <p:nvSpPr>
          <p:cNvPr id="34" name="Shape 32"/>
          <p:cNvSpPr/>
          <p:nvPr/>
        </p:nvSpPr>
        <p:spPr>
          <a:xfrm>
            <a:off x="86360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8604C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5207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используйте公共 Wi-Fi без VPN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62000" y="6223000"/>
            <a:ext cx="14732000" cy="952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3000" y="645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0761" y="28575"/>
                </a:moveTo>
                <a:lnTo>
                  <a:pt x="381000" y="28575"/>
                </a:lnTo>
                <a:cubicBezTo>
                  <a:pt x="423029" y="28575"/>
                  <a:pt x="457200" y="54203"/>
                  <a:pt x="457200" y="857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34171" y="28575"/>
                  <a:pt x="76200" y="28575"/>
                </a:cubicBezTo>
                <a:lnTo>
                  <a:pt x="86439" y="28575"/>
                </a:lnTo>
                <a:cubicBezTo>
                  <a:pt x="99536" y="11519"/>
                  <a:pt x="124182" y="0"/>
                  <a:pt x="152400" y="0"/>
                </a:cubicBezTo>
                <a:lnTo>
                  <a:pt x="304800" y="0"/>
                </a:lnTo>
                <a:cubicBezTo>
                  <a:pt x="333018" y="0"/>
                  <a:pt x="357664" y="11519"/>
                  <a:pt x="370761" y="28575"/>
                </a:cubicBezTo>
                <a:close/>
                <a:moveTo>
                  <a:pt x="295275" y="100013"/>
                </a:moveTo>
                <a:cubicBezTo>
                  <a:pt x="311110" y="100013"/>
                  <a:pt x="323850" y="90458"/>
                  <a:pt x="323850" y="78581"/>
                </a:cubicBezTo>
                <a:cubicBezTo>
                  <a:pt x="323850" y="66705"/>
                  <a:pt x="311110" y="57150"/>
                  <a:pt x="295275" y="57150"/>
                </a:cubicBezTo>
                <a:lnTo>
                  <a:pt x="161925" y="57150"/>
                </a:lnTo>
                <a:cubicBezTo>
                  <a:pt x="146090" y="57150"/>
                  <a:pt x="133350" y="66705"/>
                  <a:pt x="133350" y="78581"/>
                </a:cubicBezTo>
                <a:cubicBezTo>
                  <a:pt x="133350" y="90458"/>
                  <a:pt x="146090" y="100013"/>
                  <a:pt x="161925" y="100013"/>
                </a:cubicBezTo>
                <a:lnTo>
                  <a:pt x="295275" y="100013"/>
                </a:lnTo>
                <a:close/>
                <a:moveTo>
                  <a:pt x="329089" y="232797"/>
                </a:moveTo>
                <a:cubicBezTo>
                  <a:pt x="337423" y="222796"/>
                  <a:pt x="333375" y="209580"/>
                  <a:pt x="320040" y="203240"/>
                </a:cubicBezTo>
                <a:cubicBezTo>
                  <a:pt x="306705" y="196900"/>
                  <a:pt x="289084" y="200025"/>
                  <a:pt x="280630" y="210026"/>
                </a:cubicBezTo>
                <a:lnTo>
                  <a:pt x="207526" y="297805"/>
                </a:lnTo>
                <a:lnTo>
                  <a:pt x="175379" y="265658"/>
                </a:lnTo>
                <a:cubicBezTo>
                  <a:pt x="165854" y="256193"/>
                  <a:pt x="147995" y="254228"/>
                  <a:pt x="135374" y="261372"/>
                </a:cubicBezTo>
                <a:cubicBezTo>
                  <a:pt x="122753" y="268516"/>
                  <a:pt x="120134" y="281910"/>
                  <a:pt x="129659" y="291376"/>
                </a:cubicBezTo>
                <a:lnTo>
                  <a:pt x="186809" y="348526"/>
                </a:lnTo>
                <a:cubicBezTo>
                  <a:pt x="192405" y="354151"/>
                  <a:pt x="201454" y="357366"/>
                  <a:pt x="210860" y="357098"/>
                </a:cubicBezTo>
                <a:cubicBezTo>
                  <a:pt x="220266" y="356830"/>
                  <a:pt x="228838" y="353080"/>
                  <a:pt x="233839" y="347008"/>
                </a:cubicBezTo>
                <a:lnTo>
                  <a:pt x="329089" y="23270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1841500" y="6286500"/>
            <a:ext cx="1333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Сохраните этот слайд!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Распечатайте чек-лист и проверьте себя раз в месяц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E2E8F0">
              <a:alpha val="37647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4986000" y="8839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x5i7ycum6gnq/mnt/agents/output/cybersecurity/images/final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19000"/>
                </a:srgbClr>
              </a:gs>
              <a:gs pos="40000">
                <a:srgbClr val="0F172A">
                  <a:alpha val="63000"/>
                </a:srgbClr>
              </a:gs>
              <a:gs pos="100000">
                <a:srgbClr val="0F172A">
                  <a:alpha val="91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493000" y="2540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5000" y="0"/>
                </a:moveTo>
                <a:cubicBezTo>
                  <a:pt x="646410" y="0"/>
                  <a:pt x="657820" y="2480"/>
                  <a:pt x="668238" y="7193"/>
                </a:cubicBezTo>
                <a:lnTo>
                  <a:pt x="1135559" y="205383"/>
                </a:lnTo>
                <a:cubicBezTo>
                  <a:pt x="1190129" y="228451"/>
                  <a:pt x="1230809" y="282277"/>
                  <a:pt x="1230561" y="347266"/>
                </a:cubicBezTo>
                <a:cubicBezTo>
                  <a:pt x="1229320" y="593328"/>
                  <a:pt x="1128117" y="1043533"/>
                  <a:pt x="700732" y="1248172"/>
                </a:cubicBezTo>
                <a:cubicBezTo>
                  <a:pt x="659309" y="1268016"/>
                  <a:pt x="611188" y="1268016"/>
                  <a:pt x="569764" y="1248172"/>
                </a:cubicBezTo>
                <a:cubicBezTo>
                  <a:pt x="142131" y="1043533"/>
                  <a:pt x="41176" y="593328"/>
                  <a:pt x="39936" y="347266"/>
                </a:cubicBezTo>
                <a:cubicBezTo>
                  <a:pt x="39687" y="282277"/>
                  <a:pt x="80367" y="228451"/>
                  <a:pt x="134937" y="205383"/>
                </a:cubicBezTo>
                <a:lnTo>
                  <a:pt x="602010" y="7193"/>
                </a:lnTo>
                <a:cubicBezTo>
                  <a:pt x="612428" y="2480"/>
                  <a:pt x="623590" y="0"/>
                  <a:pt x="635000" y="0"/>
                </a:cubicBezTo>
                <a:close/>
                <a:moveTo>
                  <a:pt x="635000" y="165695"/>
                </a:moveTo>
                <a:lnTo>
                  <a:pt x="635000" y="1103561"/>
                </a:lnTo>
                <a:cubicBezTo>
                  <a:pt x="977305" y="937865"/>
                  <a:pt x="1069330" y="570756"/>
                  <a:pt x="1071563" y="350986"/>
                </a:cubicBezTo>
                <a:lnTo>
                  <a:pt x="635000" y="165943"/>
                </a:lnTo>
                <a:lnTo>
                  <a:pt x="635000" y="165943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4064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Будьте бдительны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493000" y="5143500"/>
            <a:ext cx="1270000" cy="50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53975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CBD5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Кибербезопасность — это не разовое действие, а привычка.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CBD5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Защитите себя и своих близких в цифровом мире.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88000" y="711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300" kern="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СПАСИБО ЗА ВНИМАНИЕ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731000" y="7747000"/>
            <a:ext cx="2794000" cy="457200"/>
          </a:xfrm>
          <a:prstGeom prst="roundRect">
            <a:avLst>
              <a:gd name="adj" fmla="val 50000"/>
            </a:avLst>
          </a:prstGeom>
          <a:solidFill>
            <a:srgbClr val="E8604C">
              <a:alpha val="1451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31000" y="77470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860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МОДУЛЬ 2  |  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кибербезопасности: защита персональных данных и финансов</dc:title>
  <dc:subject>Основы кибербезопасности: защита персональных данных и финансов</dc:subject>
  <dc:creator>Kimi</dc:creator>
  <cp:lastModifiedBy>Kimi</cp:lastModifiedBy>
  <cp:revision>1</cp:revision>
  <dcterms:created xsi:type="dcterms:W3CDTF">2026-06-11T10:14:40Z</dcterms:created>
  <dcterms:modified xsi:type="dcterms:W3CDTF">2026-06-11T10:14:40Z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{"Label":"Основы кибербезопасности: защита персональных данных и финансов","ContentProducer":"001191110108MACG2KBH8F10000","ProduceID":"19eb62b8-9c42-8eb3-8000-0000054b63f3","ReservedCode1":"","ContentPropagator":"001191110108MACG2KBH8F20000","PropagateID":"19eb6165-81d2-88c8-8000-0974da831bfb","ReservedCode2":""}</vt:lpwstr>
  </property>
</Properties>
</file>